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1.xml" ContentType="application/vnd.openxmlformats-officedocument.drawingml.chartshape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6.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7.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handoutMasterIdLst>
    <p:handoutMasterId r:id="rId13"/>
  </p:handoutMasterIdLst>
  <p:sldIdLst>
    <p:sldId id="257" r:id="rId2"/>
    <p:sldId id="266" r:id="rId3"/>
    <p:sldId id="264" r:id="rId4"/>
    <p:sldId id="267" r:id="rId5"/>
    <p:sldId id="268" r:id="rId6"/>
    <p:sldId id="269" r:id="rId7"/>
    <p:sldId id="270" r:id="rId8"/>
    <p:sldId id="271" r:id="rId9"/>
    <p:sldId id="272" r:id="rId10"/>
    <p:sldId id="27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D03447BB-5D67-496B-8E87-E561075AD55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40" d="100"/>
          <a:sy n="40" d="100"/>
        </p:scale>
        <p:origin x="44" y="592"/>
      </p:cViewPr>
      <p:guideLst/>
    </p:cSldViewPr>
  </p:slideViewPr>
  <p:notesTextViewPr>
    <p:cViewPr>
      <p:scale>
        <a:sx n="1" d="1"/>
        <a:sy n="1" d="1"/>
      </p:scale>
      <p:origin x="0" y="-28"/>
    </p:cViewPr>
  </p:notesTextViewPr>
  <p:notesViewPr>
    <p:cSldViewPr>
      <p:cViewPr varScale="1">
        <p:scale>
          <a:sx n="95" d="100"/>
          <a:sy n="95" d="100"/>
        </p:scale>
        <p:origin x="696"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Desktop\NBA%20ANALYSI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USER\Desktop\NBA%20ANALYSI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USER\Desktop\NBA%20ANALYSIS.xlsx" TargetMode="Externa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1.xml"/></Relationships>
</file>

<file path=ppt/charts/_rels/chart4.xml.rels><?xml version="1.0" encoding="UTF-8" standalone="yes"?>
<Relationships xmlns="http://schemas.openxmlformats.org/package/2006/relationships"><Relationship Id="rId3" Type="http://schemas.openxmlformats.org/officeDocument/2006/relationships/oleObject" Target="file:///C:\Users\USER\Desktop\NBA%20ANALYSI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USER\Desktop\NBA%20ANALYSI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USER\Desktop\NBA%20ANALYSIS.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[NBA ANALYSIS.xlsx]Analysis!PivotTable1</c:name>
    <c:fmtId val="10"/>
  </c:pivotSource>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b="1">
                <a:solidFill>
                  <a:schemeClr val="tx1"/>
                </a:solidFill>
              </a:rPr>
              <a:t>AVERAGE</a:t>
            </a:r>
            <a:r>
              <a:rPr lang="en-US" b="1" baseline="0">
                <a:solidFill>
                  <a:schemeClr val="tx1"/>
                </a:solidFill>
              </a:rPr>
              <a:t> OF YEARS PLAYED BY DRAFT ROUND</a:t>
            </a:r>
            <a:endParaRPr lang="en-US" b="1">
              <a:solidFill>
                <a:schemeClr val="tx1"/>
              </a:solidFill>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NG"/>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NG"/>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NG"/>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tx1">
              <a:lumMod val="85000"/>
              <a:lumOff val="15000"/>
            </a:schemeClr>
          </a:solidFill>
          <a:ln w="19050">
            <a:solidFill>
              <a:schemeClr val="lt1"/>
            </a:solidFill>
          </a:ln>
          <a:effectLst/>
        </c:spPr>
      </c:pivotFmt>
      <c:pivotFmt>
        <c:idx val="6"/>
        <c:spPr>
          <a:solidFill>
            <a:srgbClr val="700000"/>
          </a:solidFill>
          <a:ln w="19050">
            <a:solidFill>
              <a:schemeClr val="lt1"/>
            </a:solidFill>
          </a:ln>
          <a:effectLst/>
        </c:spPr>
      </c:pivotFmt>
      <c:pivotFmt>
        <c:idx val="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NG"/>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tx1">
              <a:lumMod val="85000"/>
              <a:lumOff val="15000"/>
            </a:schemeClr>
          </a:solidFill>
          <a:ln w="19050">
            <a:solidFill>
              <a:schemeClr val="lt1"/>
            </a:solidFill>
          </a:ln>
          <a:effectLst/>
        </c:spPr>
      </c:pivotFmt>
      <c:pivotFmt>
        <c:idx val="9"/>
        <c:spPr>
          <a:solidFill>
            <a:srgbClr val="700000"/>
          </a:solidFill>
          <a:ln w="19050">
            <a:solidFill>
              <a:schemeClr val="lt1"/>
            </a:solidFill>
          </a:ln>
          <a:effectLst/>
        </c:spPr>
      </c:pivotFmt>
      <c:pivotFmt>
        <c:idx val="1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NG"/>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tx1">
              <a:lumMod val="85000"/>
              <a:lumOff val="15000"/>
            </a:schemeClr>
          </a:solidFill>
          <a:ln w="19050">
            <a:solidFill>
              <a:schemeClr val="lt1"/>
            </a:solidFill>
          </a:ln>
          <a:effectLst/>
        </c:spPr>
      </c:pivotFmt>
      <c:pivotFmt>
        <c:idx val="12"/>
        <c:spPr>
          <a:solidFill>
            <a:srgbClr val="700000"/>
          </a:solidFill>
          <a:ln w="19050">
            <a:solidFill>
              <a:schemeClr val="lt1"/>
            </a:solidFill>
          </a:ln>
          <a:effectLst/>
        </c:spPr>
      </c:pivotFmt>
    </c:pivotFmts>
    <c:plotArea>
      <c:layout/>
      <c:doughnutChart>
        <c:varyColors val="1"/>
        <c:ser>
          <c:idx val="0"/>
          <c:order val="0"/>
          <c:tx>
            <c:strRef>
              <c:f>Analysis!$E$2</c:f>
              <c:strCache>
                <c:ptCount val="1"/>
                <c:pt idx="0">
                  <c:v>Total</c:v>
                </c:pt>
              </c:strCache>
            </c:strRef>
          </c:tx>
          <c:dPt>
            <c:idx val="0"/>
            <c:bubble3D val="0"/>
            <c:spPr>
              <a:solidFill>
                <a:schemeClr val="tx1">
                  <a:lumMod val="85000"/>
                  <a:lumOff val="15000"/>
                </a:schemeClr>
              </a:solidFill>
              <a:ln w="19050">
                <a:solidFill>
                  <a:schemeClr val="lt1"/>
                </a:solidFill>
              </a:ln>
              <a:effectLst/>
            </c:spPr>
            <c:extLst>
              <c:ext xmlns:c16="http://schemas.microsoft.com/office/drawing/2014/chart" uri="{C3380CC4-5D6E-409C-BE32-E72D297353CC}">
                <c16:uniqueId val="{00000001-484C-46B9-AB10-BFABB4E083C9}"/>
              </c:ext>
            </c:extLst>
          </c:dPt>
          <c:dPt>
            <c:idx val="1"/>
            <c:bubble3D val="0"/>
            <c:spPr>
              <a:solidFill>
                <a:srgbClr val="700000"/>
              </a:solidFill>
              <a:ln w="19050">
                <a:solidFill>
                  <a:schemeClr val="lt1"/>
                </a:solidFill>
              </a:ln>
              <a:effectLst/>
            </c:spPr>
            <c:extLst>
              <c:ext xmlns:c16="http://schemas.microsoft.com/office/drawing/2014/chart" uri="{C3380CC4-5D6E-409C-BE32-E72D297353CC}">
                <c16:uniqueId val="{00000003-484C-46B9-AB10-BFABB4E083C9}"/>
              </c:ext>
            </c:extLst>
          </c:dPt>
          <c:cat>
            <c:strRef>
              <c:f>Analysis!$D$3:$D$5</c:f>
              <c:strCache>
                <c:ptCount val="2"/>
                <c:pt idx="0">
                  <c:v>1</c:v>
                </c:pt>
                <c:pt idx="1">
                  <c:v>2</c:v>
                </c:pt>
              </c:strCache>
            </c:strRef>
          </c:cat>
          <c:val>
            <c:numRef>
              <c:f>Analysis!$E$3:$E$5</c:f>
              <c:numCache>
                <c:formatCode>General</c:formatCode>
                <c:ptCount val="2"/>
                <c:pt idx="0">
                  <c:v>7.7462203023758098</c:v>
                </c:pt>
                <c:pt idx="1">
                  <c:v>4.3924963924963922</c:v>
                </c:pt>
              </c:numCache>
            </c:numRef>
          </c:val>
          <c:extLst>
            <c:ext xmlns:c16="http://schemas.microsoft.com/office/drawing/2014/chart" uri="{C3380CC4-5D6E-409C-BE32-E72D297353CC}">
              <c16:uniqueId val="{00000004-484C-46B9-AB10-BFABB4E083C9}"/>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NG"/>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G"/>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[NBA ANALYSIS.xlsx]Analysis!PivotTable3</c:name>
    <c:fmtId val="9"/>
  </c:pivotSource>
  <c:chart>
    <c:title>
      <c:tx>
        <c:rich>
          <a:bodyPr rot="0" spcFirstLastPara="1" vertOverflow="ellipsis" vert="horz" wrap="square" anchor="ctr" anchorCtr="1"/>
          <a:lstStyle/>
          <a:p>
            <a:pPr algn="ctr" rtl="0">
              <a:defRPr lang="en-US" sz="1400" b="1" i="0" u="none" strike="noStrike" kern="1200" spc="0" baseline="0">
                <a:solidFill>
                  <a:schemeClr val="tx1"/>
                </a:solidFill>
                <a:latin typeface="+mn-lt"/>
                <a:ea typeface="+mn-ea"/>
                <a:cs typeface="+mn-cs"/>
              </a:defRPr>
            </a:pPr>
            <a:r>
              <a:rPr lang="en-US" sz="1400" b="1" i="0" u="none" strike="noStrike" kern="1200" spc="0" baseline="0">
                <a:solidFill>
                  <a:schemeClr val="tx1"/>
                </a:solidFill>
                <a:latin typeface="+mn-lt"/>
                <a:ea typeface="+mn-ea"/>
                <a:cs typeface="+mn-cs"/>
              </a:rPr>
              <a:t>TOP 10 PLAYERS WITH THE HIGHEST POINTS</a:t>
            </a:r>
          </a:p>
        </c:rich>
      </c:tx>
      <c:overlay val="0"/>
      <c:spPr>
        <a:noFill/>
        <a:ln>
          <a:noFill/>
        </a:ln>
        <a:effectLst/>
      </c:spPr>
      <c:txPr>
        <a:bodyPr rot="0" spcFirstLastPara="1" vertOverflow="ellipsis" vert="horz" wrap="square" anchor="ctr" anchorCtr="1"/>
        <a:lstStyle/>
        <a:p>
          <a:pPr algn="ctr" rtl="0">
            <a:defRPr lang="en-US" sz="1400" b="1" i="0" u="none" strike="noStrike" kern="1200" spc="0" baseline="0">
              <a:solidFill>
                <a:schemeClr val="tx1"/>
              </a:solidFill>
              <a:latin typeface="+mn-lt"/>
              <a:ea typeface="+mn-ea"/>
              <a:cs typeface="+mn-cs"/>
            </a:defRPr>
          </a:pPr>
          <a:endParaRPr lang="en-NG"/>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NG"/>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NG"/>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70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NG"/>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rgbClr val="70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NG"/>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rgbClr val="70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NG"/>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Analysis!$K$2</c:f>
              <c:strCache>
                <c:ptCount val="1"/>
                <c:pt idx="0">
                  <c:v>Total</c:v>
                </c:pt>
              </c:strCache>
            </c:strRef>
          </c:tx>
          <c:spPr>
            <a:solidFill>
              <a:srgbClr val="700000"/>
            </a:solidFill>
            <a:ln>
              <a:noFill/>
            </a:ln>
            <a:effectLst/>
          </c:spPr>
          <c:invertIfNegative val="0"/>
          <c:cat>
            <c:strRef>
              <c:f>Analysis!$J$3:$J$13</c:f>
              <c:strCache>
                <c:ptCount val="10"/>
                <c:pt idx="0">
                  <c:v>LeBron James</c:v>
                </c:pt>
                <c:pt idx="1">
                  <c:v>Kobe Bryant</c:v>
                </c:pt>
                <c:pt idx="2">
                  <c:v>Dirk Nowitzki</c:v>
                </c:pt>
                <c:pt idx="3">
                  <c:v>Shaquille O'Neal</c:v>
                </c:pt>
                <c:pt idx="4">
                  <c:v>Carmelo Anthony</c:v>
                </c:pt>
                <c:pt idx="5">
                  <c:v>Tim Duncan</c:v>
                </c:pt>
                <c:pt idx="6">
                  <c:v>Paul Pierce</c:v>
                </c:pt>
                <c:pt idx="7">
                  <c:v>Kevin Garnett</c:v>
                </c:pt>
                <c:pt idx="8">
                  <c:v>Vince Carter</c:v>
                </c:pt>
                <c:pt idx="9">
                  <c:v>Kevin Durant</c:v>
                </c:pt>
              </c:strCache>
            </c:strRef>
          </c:cat>
          <c:val>
            <c:numRef>
              <c:f>Analysis!$K$3:$K$13</c:f>
              <c:numCache>
                <c:formatCode>General</c:formatCode>
                <c:ptCount val="10"/>
                <c:pt idx="0">
                  <c:v>36559</c:v>
                </c:pt>
                <c:pt idx="1">
                  <c:v>33643</c:v>
                </c:pt>
                <c:pt idx="2">
                  <c:v>31560</c:v>
                </c:pt>
                <c:pt idx="3">
                  <c:v>28596</c:v>
                </c:pt>
                <c:pt idx="4">
                  <c:v>28042</c:v>
                </c:pt>
                <c:pt idx="5">
                  <c:v>26496</c:v>
                </c:pt>
                <c:pt idx="6">
                  <c:v>26397</c:v>
                </c:pt>
                <c:pt idx="7">
                  <c:v>26071</c:v>
                </c:pt>
                <c:pt idx="8">
                  <c:v>25728</c:v>
                </c:pt>
                <c:pt idx="9">
                  <c:v>24936</c:v>
                </c:pt>
              </c:numCache>
            </c:numRef>
          </c:val>
          <c:extLst>
            <c:ext xmlns:c16="http://schemas.microsoft.com/office/drawing/2014/chart" uri="{C3380CC4-5D6E-409C-BE32-E72D297353CC}">
              <c16:uniqueId val="{00000000-FEB0-4FB2-9BFE-D91733BFB283}"/>
            </c:ext>
          </c:extLst>
        </c:ser>
        <c:dLbls>
          <c:showLegendKey val="0"/>
          <c:showVal val="0"/>
          <c:showCatName val="0"/>
          <c:showSerName val="0"/>
          <c:showPercent val="0"/>
          <c:showBubbleSize val="0"/>
        </c:dLbls>
        <c:gapWidth val="219"/>
        <c:overlap val="-27"/>
        <c:axId val="919009887"/>
        <c:axId val="919025727"/>
      </c:barChart>
      <c:catAx>
        <c:axId val="9190098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NG"/>
          </a:p>
        </c:txPr>
        <c:crossAx val="919025727"/>
        <c:crosses val="autoZero"/>
        <c:auto val="1"/>
        <c:lblAlgn val="ctr"/>
        <c:lblOffset val="100"/>
        <c:noMultiLvlLbl val="0"/>
      </c:catAx>
      <c:valAx>
        <c:axId val="91902572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NG"/>
          </a:p>
        </c:txPr>
        <c:crossAx val="91900988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NG"/>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G"/>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[NBA ANALYSIS.xlsx]Analysis!PivotTable2</c:name>
    <c:fmtId val="8"/>
  </c:pivotSource>
  <c:chart>
    <c:title>
      <c:tx>
        <c:rich>
          <a:bodyPr rot="0" spcFirstLastPara="1" vertOverflow="ellipsis" vert="horz" wrap="square" anchor="ctr" anchorCtr="1"/>
          <a:lstStyle/>
          <a:p>
            <a:pPr algn="ctr" rtl="0">
              <a:defRPr lang="en-US" sz="1400" b="1" i="0" u="none" strike="noStrike" kern="1200" spc="0" baseline="0">
                <a:solidFill>
                  <a:schemeClr val="tx1"/>
                </a:solidFill>
                <a:latin typeface="+mn-lt"/>
                <a:ea typeface="+mn-ea"/>
                <a:cs typeface="+mn-cs"/>
              </a:defRPr>
            </a:pPr>
            <a:r>
              <a:rPr lang="en-US" sz="1400" b="1" i="0" u="none" strike="noStrike" kern="1200" spc="0" baseline="0">
                <a:solidFill>
                  <a:schemeClr val="tx1"/>
                </a:solidFill>
                <a:latin typeface="+mn-lt"/>
                <a:ea typeface="+mn-ea"/>
                <a:cs typeface="+mn-cs"/>
              </a:rPr>
              <a:t>TEAMS OF PLAYERS WITH HE LONGEST CAREER</a:t>
            </a:r>
          </a:p>
        </c:rich>
      </c:tx>
      <c:overlay val="0"/>
      <c:spPr>
        <a:noFill/>
        <a:ln>
          <a:noFill/>
        </a:ln>
        <a:effectLst/>
      </c:spPr>
      <c:txPr>
        <a:bodyPr rot="0" spcFirstLastPara="1" vertOverflow="ellipsis" vert="horz" wrap="square" anchor="ctr" anchorCtr="1"/>
        <a:lstStyle/>
        <a:p>
          <a:pPr algn="ctr" rtl="0">
            <a:defRPr lang="en-US" sz="1400" b="1" i="0" u="none" strike="noStrike" kern="1200" spc="0" baseline="0">
              <a:solidFill>
                <a:schemeClr val="tx1"/>
              </a:solidFill>
              <a:latin typeface="+mn-lt"/>
              <a:ea typeface="+mn-ea"/>
              <a:cs typeface="+mn-cs"/>
            </a:defRPr>
          </a:pPr>
          <a:endParaRPr lang="en-NG"/>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NG"/>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NG"/>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70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NG"/>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rgbClr val="70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NG"/>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rgbClr val="70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NG"/>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Analysis!$H$2</c:f>
              <c:strCache>
                <c:ptCount val="1"/>
                <c:pt idx="0">
                  <c:v>Total</c:v>
                </c:pt>
              </c:strCache>
            </c:strRef>
          </c:tx>
          <c:spPr>
            <a:solidFill>
              <a:srgbClr val="700000"/>
            </a:solidFill>
            <a:ln>
              <a:noFill/>
            </a:ln>
            <a:effectLst/>
          </c:spPr>
          <c:invertIfNegative val="0"/>
          <c:cat>
            <c:strRef>
              <c:f>Analysis!$G$3:$G$33</c:f>
              <c:strCache>
                <c:ptCount val="30"/>
                <c:pt idx="0">
                  <c:v>MIL</c:v>
                </c:pt>
                <c:pt idx="1">
                  <c:v>SAC</c:v>
                </c:pt>
                <c:pt idx="2">
                  <c:v>CHI</c:v>
                </c:pt>
                <c:pt idx="3">
                  <c:v>DET</c:v>
                </c:pt>
                <c:pt idx="4">
                  <c:v>OKC</c:v>
                </c:pt>
                <c:pt idx="5">
                  <c:v>MIN</c:v>
                </c:pt>
                <c:pt idx="6">
                  <c:v>CHA</c:v>
                </c:pt>
                <c:pt idx="7">
                  <c:v>WAS</c:v>
                </c:pt>
                <c:pt idx="8">
                  <c:v>PHI</c:v>
                </c:pt>
                <c:pt idx="9">
                  <c:v>GSW</c:v>
                </c:pt>
                <c:pt idx="10">
                  <c:v>UTA</c:v>
                </c:pt>
                <c:pt idx="11">
                  <c:v>HOU</c:v>
                </c:pt>
                <c:pt idx="12">
                  <c:v>ATL</c:v>
                </c:pt>
                <c:pt idx="13">
                  <c:v>IND</c:v>
                </c:pt>
                <c:pt idx="14">
                  <c:v>CLE</c:v>
                </c:pt>
                <c:pt idx="15">
                  <c:v>DEN</c:v>
                </c:pt>
                <c:pt idx="16">
                  <c:v>LAL</c:v>
                </c:pt>
                <c:pt idx="17">
                  <c:v>BOS</c:v>
                </c:pt>
                <c:pt idx="18">
                  <c:v>PHO</c:v>
                </c:pt>
                <c:pt idx="19">
                  <c:v>LAC</c:v>
                </c:pt>
                <c:pt idx="20">
                  <c:v>TOR</c:v>
                </c:pt>
                <c:pt idx="21">
                  <c:v>ORL</c:v>
                </c:pt>
                <c:pt idx="22">
                  <c:v>SAS</c:v>
                </c:pt>
                <c:pt idx="23">
                  <c:v>POR</c:v>
                </c:pt>
                <c:pt idx="24">
                  <c:v>BRK</c:v>
                </c:pt>
                <c:pt idx="25">
                  <c:v>DAL</c:v>
                </c:pt>
                <c:pt idx="26">
                  <c:v>NYK</c:v>
                </c:pt>
                <c:pt idx="27">
                  <c:v>MEM</c:v>
                </c:pt>
                <c:pt idx="28">
                  <c:v>MIA</c:v>
                </c:pt>
                <c:pt idx="29">
                  <c:v>NOP</c:v>
                </c:pt>
              </c:strCache>
            </c:strRef>
          </c:cat>
          <c:val>
            <c:numRef>
              <c:f>Analysis!$H$3:$H$33</c:f>
              <c:numCache>
                <c:formatCode>General</c:formatCode>
                <c:ptCount val="30"/>
                <c:pt idx="0">
                  <c:v>36</c:v>
                </c:pt>
                <c:pt idx="1">
                  <c:v>35</c:v>
                </c:pt>
                <c:pt idx="2">
                  <c:v>32</c:v>
                </c:pt>
                <c:pt idx="3">
                  <c:v>32</c:v>
                </c:pt>
                <c:pt idx="4">
                  <c:v>30</c:v>
                </c:pt>
                <c:pt idx="5">
                  <c:v>30</c:v>
                </c:pt>
                <c:pt idx="6">
                  <c:v>29</c:v>
                </c:pt>
                <c:pt idx="7">
                  <c:v>28</c:v>
                </c:pt>
                <c:pt idx="8">
                  <c:v>28</c:v>
                </c:pt>
                <c:pt idx="9">
                  <c:v>28</c:v>
                </c:pt>
                <c:pt idx="10">
                  <c:v>28</c:v>
                </c:pt>
                <c:pt idx="11">
                  <c:v>28</c:v>
                </c:pt>
                <c:pt idx="12">
                  <c:v>27</c:v>
                </c:pt>
                <c:pt idx="13">
                  <c:v>27</c:v>
                </c:pt>
                <c:pt idx="14">
                  <c:v>26</c:v>
                </c:pt>
                <c:pt idx="15">
                  <c:v>26</c:v>
                </c:pt>
                <c:pt idx="16">
                  <c:v>25</c:v>
                </c:pt>
                <c:pt idx="17">
                  <c:v>24</c:v>
                </c:pt>
                <c:pt idx="18">
                  <c:v>24</c:v>
                </c:pt>
                <c:pt idx="19">
                  <c:v>23</c:v>
                </c:pt>
                <c:pt idx="20">
                  <c:v>22</c:v>
                </c:pt>
                <c:pt idx="21">
                  <c:v>21</c:v>
                </c:pt>
                <c:pt idx="22">
                  <c:v>20</c:v>
                </c:pt>
                <c:pt idx="23">
                  <c:v>20</c:v>
                </c:pt>
                <c:pt idx="24">
                  <c:v>19</c:v>
                </c:pt>
                <c:pt idx="25">
                  <c:v>18</c:v>
                </c:pt>
                <c:pt idx="26">
                  <c:v>18</c:v>
                </c:pt>
                <c:pt idx="27">
                  <c:v>18</c:v>
                </c:pt>
                <c:pt idx="28">
                  <c:v>17</c:v>
                </c:pt>
                <c:pt idx="29">
                  <c:v>12</c:v>
                </c:pt>
              </c:numCache>
            </c:numRef>
          </c:val>
          <c:extLst>
            <c:ext xmlns:c16="http://schemas.microsoft.com/office/drawing/2014/chart" uri="{C3380CC4-5D6E-409C-BE32-E72D297353CC}">
              <c16:uniqueId val="{00000000-D35E-43E6-9710-6E7FB6160496}"/>
            </c:ext>
          </c:extLst>
        </c:ser>
        <c:dLbls>
          <c:showLegendKey val="0"/>
          <c:showVal val="0"/>
          <c:showCatName val="0"/>
          <c:showSerName val="0"/>
          <c:showPercent val="0"/>
          <c:showBubbleSize val="0"/>
        </c:dLbls>
        <c:gapWidth val="219"/>
        <c:overlap val="-27"/>
        <c:axId val="919036287"/>
        <c:axId val="919019967"/>
      </c:barChart>
      <c:catAx>
        <c:axId val="9190362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NG"/>
          </a:p>
        </c:txPr>
        <c:crossAx val="919019967"/>
        <c:crosses val="autoZero"/>
        <c:auto val="1"/>
        <c:lblAlgn val="ctr"/>
        <c:lblOffset val="100"/>
        <c:noMultiLvlLbl val="0"/>
      </c:catAx>
      <c:valAx>
        <c:axId val="91901996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NG"/>
          </a:p>
        </c:txPr>
        <c:crossAx val="91903628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NG"/>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G"/>
    </a:p>
  </c:txPr>
  <c:externalData r:id="rId3">
    <c:autoUpdate val="0"/>
  </c:externalData>
  <c:userShapes r:id="rId4"/>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[NBA ANALYSIS.xlsx]Analysis!PivotTable2</c:name>
    <c:fmtId val="11"/>
  </c:pivotSource>
  <c:chart>
    <c:title>
      <c:tx>
        <c:rich>
          <a:bodyPr rot="0" spcFirstLastPara="1" vertOverflow="ellipsis" vert="horz" wrap="square" anchor="ctr" anchorCtr="1"/>
          <a:lstStyle/>
          <a:p>
            <a:pPr algn="ctr" rtl="0">
              <a:defRPr lang="en-US" sz="1400" b="1" i="0" u="none" strike="noStrike" kern="1200" spc="0" baseline="0">
                <a:solidFill>
                  <a:schemeClr val="bg1"/>
                </a:solidFill>
                <a:latin typeface="+mn-lt"/>
                <a:ea typeface="+mn-ea"/>
                <a:cs typeface="+mn-cs"/>
              </a:defRPr>
            </a:pPr>
            <a:r>
              <a:rPr lang="en-US" sz="1400" b="1" i="0" u="none" strike="noStrike" kern="1200" spc="0" baseline="0">
                <a:solidFill>
                  <a:schemeClr val="bg1"/>
                </a:solidFill>
                <a:latin typeface="+mn-lt"/>
                <a:ea typeface="+mn-ea"/>
                <a:cs typeface="+mn-cs"/>
              </a:rPr>
              <a:t>TEAMS OF PLAYERS WITH HE LONGEST CAREER</a:t>
            </a:r>
          </a:p>
        </c:rich>
      </c:tx>
      <c:overlay val="0"/>
      <c:spPr>
        <a:noFill/>
        <a:ln>
          <a:noFill/>
        </a:ln>
        <a:effectLst/>
      </c:spPr>
      <c:txPr>
        <a:bodyPr rot="0" spcFirstLastPara="1" vertOverflow="ellipsis" vert="horz" wrap="square" anchor="ctr" anchorCtr="1"/>
        <a:lstStyle/>
        <a:p>
          <a:pPr algn="ctr" rtl="0">
            <a:defRPr lang="en-US" sz="1400" b="1" i="0" u="none" strike="noStrike" kern="1200" spc="0" baseline="0">
              <a:solidFill>
                <a:schemeClr val="bg1"/>
              </a:solidFill>
              <a:latin typeface="+mn-lt"/>
              <a:ea typeface="+mn-ea"/>
              <a:cs typeface="+mn-cs"/>
            </a:defRPr>
          </a:pPr>
          <a:endParaRPr lang="en-NG"/>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NG"/>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NG"/>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70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NG"/>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rgbClr val="70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NG"/>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rgbClr val="70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NG"/>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Analysis!$H$2</c:f>
              <c:strCache>
                <c:ptCount val="1"/>
                <c:pt idx="0">
                  <c:v>Total</c:v>
                </c:pt>
              </c:strCache>
            </c:strRef>
          </c:tx>
          <c:spPr>
            <a:solidFill>
              <a:srgbClr val="700000"/>
            </a:solidFill>
            <a:ln>
              <a:noFill/>
            </a:ln>
            <a:effectLst/>
          </c:spPr>
          <c:invertIfNegative val="0"/>
          <c:cat>
            <c:strRef>
              <c:f>Analysis!$G$3:$G$33</c:f>
              <c:strCache>
                <c:ptCount val="30"/>
                <c:pt idx="0">
                  <c:v>MIL</c:v>
                </c:pt>
                <c:pt idx="1">
                  <c:v>SAC</c:v>
                </c:pt>
                <c:pt idx="2">
                  <c:v>CHI</c:v>
                </c:pt>
                <c:pt idx="3">
                  <c:v>DET</c:v>
                </c:pt>
                <c:pt idx="4">
                  <c:v>OKC</c:v>
                </c:pt>
                <c:pt idx="5">
                  <c:v>MIN</c:v>
                </c:pt>
                <c:pt idx="6">
                  <c:v>CHA</c:v>
                </c:pt>
                <c:pt idx="7">
                  <c:v>WAS</c:v>
                </c:pt>
                <c:pt idx="8">
                  <c:v>PHI</c:v>
                </c:pt>
                <c:pt idx="9">
                  <c:v>GSW</c:v>
                </c:pt>
                <c:pt idx="10">
                  <c:v>UTA</c:v>
                </c:pt>
                <c:pt idx="11">
                  <c:v>HOU</c:v>
                </c:pt>
                <c:pt idx="12">
                  <c:v>ATL</c:v>
                </c:pt>
                <c:pt idx="13">
                  <c:v>IND</c:v>
                </c:pt>
                <c:pt idx="14">
                  <c:v>CLE</c:v>
                </c:pt>
                <c:pt idx="15">
                  <c:v>DEN</c:v>
                </c:pt>
                <c:pt idx="16">
                  <c:v>LAL</c:v>
                </c:pt>
                <c:pt idx="17">
                  <c:v>BOS</c:v>
                </c:pt>
                <c:pt idx="18">
                  <c:v>PHO</c:v>
                </c:pt>
                <c:pt idx="19">
                  <c:v>LAC</c:v>
                </c:pt>
                <c:pt idx="20">
                  <c:v>TOR</c:v>
                </c:pt>
                <c:pt idx="21">
                  <c:v>ORL</c:v>
                </c:pt>
                <c:pt idx="22">
                  <c:v>SAS</c:v>
                </c:pt>
                <c:pt idx="23">
                  <c:v>POR</c:v>
                </c:pt>
                <c:pt idx="24">
                  <c:v>BRK</c:v>
                </c:pt>
                <c:pt idx="25">
                  <c:v>DAL</c:v>
                </c:pt>
                <c:pt idx="26">
                  <c:v>NYK</c:v>
                </c:pt>
                <c:pt idx="27">
                  <c:v>MEM</c:v>
                </c:pt>
                <c:pt idx="28">
                  <c:v>MIA</c:v>
                </c:pt>
                <c:pt idx="29">
                  <c:v>NOP</c:v>
                </c:pt>
              </c:strCache>
            </c:strRef>
          </c:cat>
          <c:val>
            <c:numRef>
              <c:f>Analysis!$H$3:$H$33</c:f>
              <c:numCache>
                <c:formatCode>General</c:formatCode>
                <c:ptCount val="30"/>
                <c:pt idx="0">
                  <c:v>36</c:v>
                </c:pt>
                <c:pt idx="1">
                  <c:v>35</c:v>
                </c:pt>
                <c:pt idx="2">
                  <c:v>32</c:v>
                </c:pt>
                <c:pt idx="3">
                  <c:v>32</c:v>
                </c:pt>
                <c:pt idx="4">
                  <c:v>30</c:v>
                </c:pt>
                <c:pt idx="5">
                  <c:v>30</c:v>
                </c:pt>
                <c:pt idx="6">
                  <c:v>29</c:v>
                </c:pt>
                <c:pt idx="7">
                  <c:v>28</c:v>
                </c:pt>
                <c:pt idx="8">
                  <c:v>28</c:v>
                </c:pt>
                <c:pt idx="9">
                  <c:v>28</c:v>
                </c:pt>
                <c:pt idx="10">
                  <c:v>28</c:v>
                </c:pt>
                <c:pt idx="11">
                  <c:v>28</c:v>
                </c:pt>
                <c:pt idx="12">
                  <c:v>27</c:v>
                </c:pt>
                <c:pt idx="13">
                  <c:v>27</c:v>
                </c:pt>
                <c:pt idx="14">
                  <c:v>26</c:v>
                </c:pt>
                <c:pt idx="15">
                  <c:v>26</c:v>
                </c:pt>
                <c:pt idx="16">
                  <c:v>25</c:v>
                </c:pt>
                <c:pt idx="17">
                  <c:v>24</c:v>
                </c:pt>
                <c:pt idx="18">
                  <c:v>24</c:v>
                </c:pt>
                <c:pt idx="19">
                  <c:v>23</c:v>
                </c:pt>
                <c:pt idx="20">
                  <c:v>22</c:v>
                </c:pt>
                <c:pt idx="21">
                  <c:v>21</c:v>
                </c:pt>
                <c:pt idx="22">
                  <c:v>20</c:v>
                </c:pt>
                <c:pt idx="23">
                  <c:v>20</c:v>
                </c:pt>
                <c:pt idx="24">
                  <c:v>19</c:v>
                </c:pt>
                <c:pt idx="25">
                  <c:v>18</c:v>
                </c:pt>
                <c:pt idx="26">
                  <c:v>18</c:v>
                </c:pt>
                <c:pt idx="27">
                  <c:v>18</c:v>
                </c:pt>
                <c:pt idx="28">
                  <c:v>17</c:v>
                </c:pt>
                <c:pt idx="29">
                  <c:v>12</c:v>
                </c:pt>
              </c:numCache>
            </c:numRef>
          </c:val>
          <c:extLst>
            <c:ext xmlns:c16="http://schemas.microsoft.com/office/drawing/2014/chart" uri="{C3380CC4-5D6E-409C-BE32-E72D297353CC}">
              <c16:uniqueId val="{00000000-C684-439C-843D-B4D2AA4D0B9E}"/>
            </c:ext>
          </c:extLst>
        </c:ser>
        <c:dLbls>
          <c:showLegendKey val="0"/>
          <c:showVal val="0"/>
          <c:showCatName val="0"/>
          <c:showSerName val="0"/>
          <c:showPercent val="0"/>
          <c:showBubbleSize val="0"/>
        </c:dLbls>
        <c:gapWidth val="219"/>
        <c:overlap val="-27"/>
        <c:axId val="919036287"/>
        <c:axId val="919019967"/>
      </c:barChart>
      <c:catAx>
        <c:axId val="9190362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NG"/>
          </a:p>
        </c:txPr>
        <c:crossAx val="919019967"/>
        <c:crosses val="autoZero"/>
        <c:auto val="1"/>
        <c:lblAlgn val="ctr"/>
        <c:lblOffset val="100"/>
        <c:noMultiLvlLbl val="0"/>
      </c:catAx>
      <c:valAx>
        <c:axId val="91901996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NG"/>
          </a:p>
        </c:txPr>
        <c:crossAx val="91903628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NG"/>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G"/>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[NBA ANALYSIS.xlsx]Analysis!PivotTable4</c:name>
    <c:fmtId val="12"/>
  </c:pivotSource>
  <c:chart>
    <c:title>
      <c:tx>
        <c:rich>
          <a:bodyPr rot="0" spcFirstLastPara="1" vertOverflow="ellipsis" vert="horz" wrap="square" anchor="ctr" anchorCtr="1"/>
          <a:lstStyle/>
          <a:p>
            <a:pPr algn="ctr" rtl="0">
              <a:defRPr lang="en-US" sz="1600" b="1" i="0" u="none" strike="noStrike" kern="1200" spc="0" baseline="0">
                <a:solidFill>
                  <a:schemeClr val="tx1"/>
                </a:solidFill>
                <a:latin typeface="+mn-lt"/>
                <a:ea typeface="+mn-ea"/>
                <a:cs typeface="+mn-cs"/>
              </a:defRPr>
            </a:pPr>
            <a:r>
              <a:rPr lang="en-US" sz="1600" b="1" i="0" u="none" strike="noStrike" kern="1200" spc="0" baseline="0">
                <a:solidFill>
                  <a:schemeClr val="tx1"/>
                </a:solidFill>
                <a:latin typeface="+mn-lt"/>
                <a:ea typeface="+mn-ea"/>
                <a:cs typeface="+mn-cs"/>
              </a:rPr>
              <a:t>AVERAGE POINTS PER GAME BY TOTAL ROUNDS PICKED</a:t>
            </a:r>
          </a:p>
        </c:rich>
      </c:tx>
      <c:layout>
        <c:manualLayout>
          <c:xMode val="edge"/>
          <c:yMode val="edge"/>
          <c:x val="0.13723805176051648"/>
          <c:y val="0.12777456047615582"/>
        </c:manualLayout>
      </c:layout>
      <c:overlay val="0"/>
      <c:spPr>
        <a:noFill/>
        <a:ln>
          <a:noFill/>
        </a:ln>
        <a:effectLst/>
      </c:spPr>
      <c:txPr>
        <a:bodyPr rot="0" spcFirstLastPara="1" vertOverflow="ellipsis" vert="horz" wrap="square" anchor="ctr" anchorCtr="1"/>
        <a:lstStyle/>
        <a:p>
          <a:pPr algn="ctr" rtl="0">
            <a:defRPr lang="en-US" sz="1600" b="1" i="0" u="none" strike="noStrike" kern="1200" spc="0" baseline="0">
              <a:solidFill>
                <a:schemeClr val="tx1"/>
              </a:solidFill>
              <a:latin typeface="+mn-lt"/>
              <a:ea typeface="+mn-ea"/>
              <a:cs typeface="+mn-cs"/>
            </a:defRPr>
          </a:pPr>
          <a:endParaRPr lang="en-NG"/>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NG"/>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NG"/>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70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NG"/>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rgbClr val="70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NG"/>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rgbClr val="70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NG"/>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24943373791682147"/>
          <c:y val="0.34018383166498439"/>
          <c:w val="0.57956453240990624"/>
          <c:h val="0.55311354515371158"/>
        </c:manualLayout>
      </c:layout>
      <c:barChart>
        <c:barDir val="bar"/>
        <c:grouping val="clustered"/>
        <c:varyColors val="0"/>
        <c:ser>
          <c:idx val="0"/>
          <c:order val="0"/>
          <c:tx>
            <c:strRef>
              <c:f>Analysis!$AA$2</c:f>
              <c:strCache>
                <c:ptCount val="1"/>
                <c:pt idx="0">
                  <c:v>Total</c:v>
                </c:pt>
              </c:strCache>
            </c:strRef>
          </c:tx>
          <c:spPr>
            <a:solidFill>
              <a:srgbClr val="700000"/>
            </a:solidFill>
            <a:ln>
              <a:noFill/>
            </a:ln>
            <a:effectLst/>
          </c:spPr>
          <c:invertIfNegative val="0"/>
          <c:cat>
            <c:strRef>
              <c:f>Analysis!$Z$3:$Z$5</c:f>
              <c:strCache>
                <c:ptCount val="2"/>
                <c:pt idx="0">
                  <c:v>1</c:v>
                </c:pt>
                <c:pt idx="1">
                  <c:v>2</c:v>
                </c:pt>
              </c:strCache>
            </c:strRef>
          </c:cat>
          <c:val>
            <c:numRef>
              <c:f>Analysis!$AA$3:$AA$5</c:f>
              <c:numCache>
                <c:formatCode>General</c:formatCode>
                <c:ptCount val="2"/>
                <c:pt idx="0">
                  <c:v>9.0788336933045262</c:v>
                </c:pt>
                <c:pt idx="1">
                  <c:v>4.7493506493506512</c:v>
                </c:pt>
              </c:numCache>
            </c:numRef>
          </c:val>
          <c:extLst>
            <c:ext xmlns:c16="http://schemas.microsoft.com/office/drawing/2014/chart" uri="{C3380CC4-5D6E-409C-BE32-E72D297353CC}">
              <c16:uniqueId val="{00000000-97E9-42EB-A0AF-83897E5A8C04}"/>
            </c:ext>
          </c:extLst>
        </c:ser>
        <c:dLbls>
          <c:showLegendKey val="0"/>
          <c:showVal val="0"/>
          <c:showCatName val="0"/>
          <c:showSerName val="0"/>
          <c:showPercent val="0"/>
          <c:showBubbleSize val="0"/>
        </c:dLbls>
        <c:gapWidth val="182"/>
        <c:axId val="21182559"/>
        <c:axId val="21203199"/>
      </c:barChart>
      <c:catAx>
        <c:axId val="2118255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en-NG"/>
          </a:p>
        </c:txPr>
        <c:crossAx val="21203199"/>
        <c:crosses val="autoZero"/>
        <c:auto val="1"/>
        <c:lblAlgn val="ctr"/>
        <c:lblOffset val="100"/>
        <c:noMultiLvlLbl val="0"/>
      </c:catAx>
      <c:valAx>
        <c:axId val="21203199"/>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NG"/>
          </a:p>
        </c:txPr>
        <c:crossAx val="2118255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NG"/>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G"/>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sz="1440" b="0" i="0" u="none" strike="noStrike" kern="1200" spc="0" baseline="0">
                <a:solidFill>
                  <a:schemeClr val="bg1"/>
                </a:solidFill>
                <a:latin typeface="+mn-lt"/>
                <a:ea typeface="+mn-ea"/>
                <a:cs typeface="+mn-cs"/>
              </a:defRPr>
            </a:pPr>
            <a:r>
              <a:rPr lang="en-US" sz="2000" dirty="0"/>
              <a:t>DRAFT POSITIONS BY SUM OF WIN_SHARES</a:t>
            </a:r>
          </a:p>
        </c:rich>
      </c:tx>
      <c:overlay val="0"/>
      <c:spPr>
        <a:noFill/>
        <a:ln>
          <a:noFill/>
        </a:ln>
        <a:effectLst/>
      </c:spPr>
      <c:txPr>
        <a:bodyPr rot="0" spcFirstLastPara="1" vertOverflow="ellipsis" vert="horz" wrap="square" anchor="ctr" anchorCtr="1"/>
        <a:lstStyle/>
        <a:p>
          <a:pPr algn="ctr" rtl="0">
            <a:defRPr sz="1440" b="0" i="0" u="none" strike="noStrike" kern="1200" spc="0" baseline="0">
              <a:solidFill>
                <a:schemeClr val="bg1"/>
              </a:solidFill>
              <a:latin typeface="+mn-lt"/>
              <a:ea typeface="+mn-ea"/>
              <a:cs typeface="+mn-cs"/>
            </a:defRPr>
          </a:pPr>
          <a:endParaRPr lang="en-NG"/>
        </a:p>
      </c:txPr>
    </c:title>
    <c:autoTitleDeleted val="0"/>
    <c:plotArea>
      <c:layout/>
      <c:scatterChart>
        <c:scatterStyle val="smoothMarker"/>
        <c:varyColors val="0"/>
        <c:ser>
          <c:idx val="0"/>
          <c:order val="0"/>
          <c:tx>
            <c:strRef>
              <c:f>Analysis!$AD$2</c:f>
              <c:strCache>
                <c:ptCount val="1"/>
                <c:pt idx="0">
                  <c:v>Sum of win_shares</c:v>
                </c:pt>
              </c:strCache>
            </c:strRef>
          </c:tx>
          <c:spPr>
            <a:ln w="19050" cap="rnd">
              <a:solidFill>
                <a:srgbClr val="700000"/>
              </a:solidFill>
              <a:round/>
            </a:ln>
            <a:effectLst/>
          </c:spPr>
          <c:marker>
            <c:symbol val="none"/>
          </c:marker>
          <c:xVal>
            <c:numRef>
              <c:f>Analysis!$AC$3:$AC$62</c:f>
              <c:numCache>
                <c:formatCode>General</c:formatCode>
                <c:ptCount val="6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numCache>
            </c:numRef>
          </c:xVal>
          <c:yVal>
            <c:numRef>
              <c:f>Analysis!$AD$3:$AD$62</c:f>
              <c:numCache>
                <c:formatCode>General</c:formatCode>
                <c:ptCount val="60"/>
                <c:pt idx="0">
                  <c:v>2003.3999999999999</c:v>
                </c:pt>
                <c:pt idx="1">
                  <c:v>1481.9999999999998</c:v>
                </c:pt>
                <c:pt idx="2">
                  <c:v>1663.9999999999998</c:v>
                </c:pt>
                <c:pt idx="3">
                  <c:v>1488.9</c:v>
                </c:pt>
                <c:pt idx="4">
                  <c:v>1462.8</c:v>
                </c:pt>
                <c:pt idx="5">
                  <c:v>700.40000000000009</c:v>
                </c:pt>
                <c:pt idx="6">
                  <c:v>974.09999999999991</c:v>
                </c:pt>
                <c:pt idx="7">
                  <c:v>711.49999999999989</c:v>
                </c:pt>
                <c:pt idx="8">
                  <c:v>1283.7000000000003</c:v>
                </c:pt>
                <c:pt idx="9">
                  <c:v>1091.8999999999996</c:v>
                </c:pt>
                <c:pt idx="10">
                  <c:v>669.00000000000023</c:v>
                </c:pt>
                <c:pt idx="11">
                  <c:v>539.30000000000007</c:v>
                </c:pt>
                <c:pt idx="12">
                  <c:v>904.00000000000011</c:v>
                </c:pt>
                <c:pt idx="13">
                  <c:v>497.8</c:v>
                </c:pt>
                <c:pt idx="14">
                  <c:v>746</c:v>
                </c:pt>
                <c:pt idx="15">
                  <c:v>506.80000000000013</c:v>
                </c:pt>
                <c:pt idx="16">
                  <c:v>545.00000000000011</c:v>
                </c:pt>
                <c:pt idx="17">
                  <c:v>552.5</c:v>
                </c:pt>
                <c:pt idx="18">
                  <c:v>500.00000000000006</c:v>
                </c:pt>
                <c:pt idx="19">
                  <c:v>391.40000000000003</c:v>
                </c:pt>
                <c:pt idx="20">
                  <c:v>644.29999999999984</c:v>
                </c:pt>
                <c:pt idx="21">
                  <c:v>395.09999999999997</c:v>
                </c:pt>
                <c:pt idx="22">
                  <c:v>521.9</c:v>
                </c:pt>
                <c:pt idx="23">
                  <c:v>699.40000000000032</c:v>
                </c:pt>
                <c:pt idx="24">
                  <c:v>380.10000000000008</c:v>
                </c:pt>
                <c:pt idx="25">
                  <c:v>465.09999999999997</c:v>
                </c:pt>
                <c:pt idx="26">
                  <c:v>475.69999999999993</c:v>
                </c:pt>
                <c:pt idx="27">
                  <c:v>371.7</c:v>
                </c:pt>
                <c:pt idx="28">
                  <c:v>330.40000000000009</c:v>
                </c:pt>
                <c:pt idx="29">
                  <c:v>413.40000000000003</c:v>
                </c:pt>
                <c:pt idx="30">
                  <c:v>256.20000000000005</c:v>
                </c:pt>
                <c:pt idx="31">
                  <c:v>240.60000000000002</c:v>
                </c:pt>
                <c:pt idx="32">
                  <c:v>220.6</c:v>
                </c:pt>
                <c:pt idx="33">
                  <c:v>180.50000000000003</c:v>
                </c:pt>
                <c:pt idx="34">
                  <c:v>376.59999999999997</c:v>
                </c:pt>
                <c:pt idx="35">
                  <c:v>155.70000000000002</c:v>
                </c:pt>
                <c:pt idx="36">
                  <c:v>268.39999999999992</c:v>
                </c:pt>
                <c:pt idx="37">
                  <c:v>237.50000000000006</c:v>
                </c:pt>
                <c:pt idx="38">
                  <c:v>190.1</c:v>
                </c:pt>
                <c:pt idx="39">
                  <c:v>201.50000000000006</c:v>
                </c:pt>
                <c:pt idx="40">
                  <c:v>231.79999999999998</c:v>
                </c:pt>
                <c:pt idx="41">
                  <c:v>241.20000000000002</c:v>
                </c:pt>
                <c:pt idx="42">
                  <c:v>270.19999999999993</c:v>
                </c:pt>
                <c:pt idx="43">
                  <c:v>95.300000000000011</c:v>
                </c:pt>
                <c:pt idx="44">
                  <c:v>358.70000000000005</c:v>
                </c:pt>
                <c:pt idx="45">
                  <c:v>200.6</c:v>
                </c:pt>
                <c:pt idx="46">
                  <c:v>244.29999999999998</c:v>
                </c:pt>
                <c:pt idx="47">
                  <c:v>171.7</c:v>
                </c:pt>
                <c:pt idx="48">
                  <c:v>91.9</c:v>
                </c:pt>
                <c:pt idx="49">
                  <c:v>93.3</c:v>
                </c:pt>
                <c:pt idx="50">
                  <c:v>114.60000000000001</c:v>
                </c:pt>
                <c:pt idx="51">
                  <c:v>53.599999999999994</c:v>
                </c:pt>
                <c:pt idx="52">
                  <c:v>65.999999999999986</c:v>
                </c:pt>
                <c:pt idx="53">
                  <c:v>59.300000000000011</c:v>
                </c:pt>
                <c:pt idx="54">
                  <c:v>79.400000000000006</c:v>
                </c:pt>
                <c:pt idx="55">
                  <c:v>135.09999999999997</c:v>
                </c:pt>
                <c:pt idx="56">
                  <c:v>169</c:v>
                </c:pt>
                <c:pt idx="57">
                  <c:v>25.6</c:v>
                </c:pt>
                <c:pt idx="58">
                  <c:v>9.999999999999995E-2</c:v>
                </c:pt>
                <c:pt idx="59">
                  <c:v>50.3</c:v>
                </c:pt>
              </c:numCache>
            </c:numRef>
          </c:yVal>
          <c:smooth val="1"/>
          <c:extLst>
            <c:ext xmlns:c16="http://schemas.microsoft.com/office/drawing/2014/chart" uri="{C3380CC4-5D6E-409C-BE32-E72D297353CC}">
              <c16:uniqueId val="{00000000-21C1-4EB5-B43C-FE4B973C7D01}"/>
            </c:ext>
          </c:extLst>
        </c:ser>
        <c:dLbls>
          <c:showLegendKey val="0"/>
          <c:showVal val="0"/>
          <c:showCatName val="0"/>
          <c:showSerName val="0"/>
          <c:showPercent val="0"/>
          <c:showBubbleSize val="0"/>
        </c:dLbls>
        <c:axId val="955808527"/>
        <c:axId val="955809007"/>
      </c:scatterChart>
      <c:valAx>
        <c:axId val="955808527"/>
        <c:scaling>
          <c:orientation val="minMax"/>
        </c:scaling>
        <c:delete val="0"/>
        <c:axPos val="b"/>
        <c:majorGridlines>
          <c:spPr>
            <a:ln w="9525" cap="flat" cmpd="sng" algn="ctr">
              <a:solidFill>
                <a:schemeClr val="tx1">
                  <a:lumMod val="15000"/>
                  <a:lumOff val="85000"/>
                </a:schemeClr>
              </a:solidFill>
              <a:round/>
            </a:ln>
            <a:effectLst/>
          </c:spPr>
        </c:majorGridlines>
        <c:title>
          <c:overlay val="0"/>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NG"/>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NG"/>
          </a:p>
        </c:txPr>
        <c:crossAx val="955809007"/>
        <c:crosses val="autoZero"/>
        <c:crossBetween val="midCat"/>
      </c:valAx>
      <c:valAx>
        <c:axId val="955809007"/>
        <c:scaling>
          <c:orientation val="minMax"/>
        </c:scaling>
        <c:delete val="0"/>
        <c:axPos val="l"/>
        <c:majorGridlines>
          <c:spPr>
            <a:ln w="9525" cap="flat" cmpd="sng" algn="ctr">
              <a:solidFill>
                <a:schemeClr val="tx1">
                  <a:lumMod val="15000"/>
                  <a:lumOff val="85000"/>
                </a:schemeClr>
              </a:solidFill>
              <a:round/>
            </a:ln>
            <a:effectLst/>
          </c:spPr>
        </c:majorGridlines>
        <c:title>
          <c:overlay val="0"/>
          <c:spPr>
            <a:noFill/>
            <a:ln>
              <a:noFill/>
            </a:ln>
            <a:effectLst/>
          </c:spPr>
          <c:txPr>
            <a:bodyPr rot="-540000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NG"/>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NG"/>
          </a:p>
        </c:txPr>
        <c:crossAx val="955808527"/>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bg1"/>
          </a:solidFill>
        </a:defRPr>
      </a:pPr>
      <a:endParaRPr lang="en-NG"/>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cdr:x>
      <cdr:y>0</cdr:y>
    </cdr:from>
    <cdr:to>
      <cdr:x>1</cdr:x>
      <cdr:y>1</cdr:y>
    </cdr:to>
    <cdr:sp macro="" textlink="">
      <cdr:nvSpPr>
        <cdr:cNvPr id="2" name="Rectangle 1">
          <a:extLst xmlns:a="http://schemas.openxmlformats.org/drawingml/2006/main">
            <a:ext uri="{FF2B5EF4-FFF2-40B4-BE49-F238E27FC236}">
              <a16:creationId xmlns:a16="http://schemas.microsoft.com/office/drawing/2014/main" id="{359D0970-001C-1AD9-5802-E9D737497F0E}"/>
            </a:ext>
          </a:extLst>
        </cdr:cNvPr>
        <cdr:cNvSpPr/>
      </cdr:nvSpPr>
      <cdr:spPr>
        <a:xfrm xmlns:a="http://schemas.openxmlformats.org/drawingml/2006/main">
          <a:off x="-7032105" y="-1556792"/>
          <a:ext cx="4536504" cy="4680520"/>
        </a:xfrm>
        <a:prstGeom xmlns:a="http://schemas.openxmlformats.org/drawingml/2006/main" prst="rect">
          <a:avLst/>
        </a:prstGeom>
        <a:ln xmlns:a="http://schemas.openxmlformats.org/drawingml/2006/main">
          <a:noFill/>
        </a:ln>
      </cdr:spPr>
      <cdr:style>
        <a:lnRef xmlns:a="http://schemas.openxmlformats.org/drawingml/2006/main" idx="2">
          <a:schemeClr val="accent6"/>
        </a:lnRef>
        <a:fillRef xmlns:a="http://schemas.openxmlformats.org/drawingml/2006/main" idx="1">
          <a:schemeClr val="lt1"/>
        </a:fillRef>
        <a:effectRef xmlns:a="http://schemas.openxmlformats.org/drawingml/2006/main" idx="0">
          <a:schemeClr val="accent6"/>
        </a:effectRef>
        <a:fontRef xmlns:a="http://schemas.openxmlformats.org/drawingml/2006/main" idx="minor">
          <a:schemeClr val="dk1"/>
        </a:fontRef>
      </cdr:style>
      <cdr:txBody>
        <a:bodyPr xmlns:a="http://schemas.openxmlformats.org/drawingml/2006/main" vertOverflow="clip"/>
        <a:lstStyle xmlns:a="http://schemas.openxmlformats.org/drawingml/2006/main"/>
        <a:p xmlns:a="http://schemas.openxmlformats.org/drawingml/2006/main">
          <a:endParaRPr lang="en-NG" kern="1200" dirty="0">
            <a:solidFill>
              <a:schemeClr val="bg1"/>
            </a:solidFill>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8DE8356-FFDA-4E74-B804-79023C7DD259}" type="datetimeFigureOut">
              <a:rPr lang="en-US" smtClean="0"/>
              <a:t>11/18/2025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CB32D8-F2D2-4D01-80A9-88F3B128AE75}" type="slidenum">
              <a:rPr lang="en-US" smtClean="0"/>
              <a:t>‹#›</a:t>
            </a:fld>
            <a:endParaRPr lang="en-US"/>
          </a:p>
        </p:txBody>
      </p:sp>
    </p:spTree>
    <p:extLst>
      <p:ext uri="{BB962C8B-B14F-4D97-AF65-F5344CB8AC3E}">
        <p14:creationId xmlns:p14="http://schemas.microsoft.com/office/powerpoint/2010/main" val="21908472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3DDCE7-616C-4285-A468-7301F171BC93}" type="datetimeFigureOut">
              <a:rPr lang="en-US" smtClean="0"/>
              <a:t>11/18/2025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C1D8F7-2BDD-4C56-98AF-2E212EF349F3}" type="slidenum">
              <a:rPr lang="en-US" smtClean="0"/>
              <a:t>‹#›</a:t>
            </a:fld>
            <a:endParaRPr lang="en-US"/>
          </a:p>
        </p:txBody>
      </p:sp>
    </p:spTree>
    <p:extLst>
      <p:ext uri="{BB962C8B-B14F-4D97-AF65-F5344CB8AC3E}">
        <p14:creationId xmlns:p14="http://schemas.microsoft.com/office/powerpoint/2010/main" val="2107619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G" dirty="0"/>
          </a:p>
        </p:txBody>
      </p:sp>
      <p:sp>
        <p:nvSpPr>
          <p:cNvPr id="4" name="Slide Number Placeholder 3"/>
          <p:cNvSpPr>
            <a:spLocks noGrp="1"/>
          </p:cNvSpPr>
          <p:nvPr>
            <p:ph type="sldNum" sz="quarter" idx="5"/>
          </p:nvPr>
        </p:nvSpPr>
        <p:spPr/>
        <p:txBody>
          <a:bodyPr/>
          <a:lstStyle/>
          <a:p>
            <a:fld id="{05C1D8F7-2BDD-4C56-98AF-2E212EF349F3}" type="slidenum">
              <a:rPr lang="en-US" smtClean="0"/>
              <a:t>1</a:t>
            </a:fld>
            <a:endParaRPr lang="en-US"/>
          </a:p>
        </p:txBody>
      </p:sp>
    </p:spTree>
    <p:extLst>
      <p:ext uri="{BB962C8B-B14F-4D97-AF65-F5344CB8AC3E}">
        <p14:creationId xmlns:p14="http://schemas.microsoft.com/office/powerpoint/2010/main" val="632774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mission was simple: to understand how a player’s draft position influences their performance and longevity in the NBA. But as we dug deeper, we discovered something more profound—something that echoes the stories of old.</a:t>
            </a:r>
            <a:endParaRPr lang="en-NG" dirty="0"/>
          </a:p>
        </p:txBody>
      </p:sp>
      <p:sp>
        <p:nvSpPr>
          <p:cNvPr id="4" name="Slide Number Placeholder 3"/>
          <p:cNvSpPr>
            <a:spLocks noGrp="1"/>
          </p:cNvSpPr>
          <p:nvPr>
            <p:ph type="sldNum" sz="quarter" idx="5"/>
          </p:nvPr>
        </p:nvSpPr>
        <p:spPr/>
        <p:txBody>
          <a:bodyPr/>
          <a:lstStyle/>
          <a:p>
            <a:fld id="{05C1D8F7-2BDD-4C56-98AF-2E212EF349F3}" type="slidenum">
              <a:rPr lang="en-US" smtClean="0"/>
              <a:t>2</a:t>
            </a:fld>
            <a:endParaRPr lang="en-US"/>
          </a:p>
        </p:txBody>
      </p:sp>
    </p:spTree>
    <p:extLst>
      <p:ext uri="{BB962C8B-B14F-4D97-AF65-F5344CB8AC3E}">
        <p14:creationId xmlns:p14="http://schemas.microsoft.com/office/powerpoint/2010/main" val="5926484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world of basketball, being picked early is like being anointed. It’s a sign of promise, of potential. Much like Saul, the first king of Israel—tall, impressive, chosen early.</a:t>
            </a:r>
          </a:p>
          <a:p>
            <a:r>
              <a:rPr lang="en-US" dirty="0"/>
              <a:t>But as we know from scripture, being chosen first doesn’t guarantee lasting greatness. Saul’s reign faltered. Meanwhile, David—overlooked, the youngest, left tending sheep—was chosen by God and rose to become Israel’s greatest king.</a:t>
            </a:r>
          </a:p>
          <a:p>
            <a:r>
              <a:rPr lang="en-US" dirty="0"/>
              <a:t>So yes, early picks often have longer careers. But that’s not the whole story.</a:t>
            </a:r>
          </a:p>
          <a:p>
            <a:endParaRPr lang="en-NG" dirty="0"/>
          </a:p>
        </p:txBody>
      </p:sp>
      <p:sp>
        <p:nvSpPr>
          <p:cNvPr id="4" name="Slide Number Placeholder 3"/>
          <p:cNvSpPr>
            <a:spLocks noGrp="1"/>
          </p:cNvSpPr>
          <p:nvPr>
            <p:ph type="sldNum" sz="quarter" idx="5"/>
          </p:nvPr>
        </p:nvSpPr>
        <p:spPr/>
        <p:txBody>
          <a:bodyPr/>
          <a:lstStyle/>
          <a:p>
            <a:fld id="{05C1D8F7-2BDD-4C56-98AF-2E212EF349F3}" type="slidenum">
              <a:rPr lang="en-US" smtClean="0"/>
              <a:t>3</a:t>
            </a:fld>
            <a:endParaRPr lang="en-US"/>
          </a:p>
        </p:txBody>
      </p:sp>
    </p:spTree>
    <p:extLst>
      <p:ext uri="{BB962C8B-B14F-4D97-AF65-F5344CB8AC3E}">
        <p14:creationId xmlns:p14="http://schemas.microsoft.com/office/powerpoint/2010/main" val="3038634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this list: LeBron, Kobe, Dirk, Shaq. Giants of the game. Many were top picks. But others—like Paul Pierce or Manu </a:t>
            </a:r>
            <a:r>
              <a:rPr lang="en-US" dirty="0" err="1"/>
              <a:t>Ginóbili</a:t>
            </a:r>
            <a:r>
              <a:rPr lang="en-US" dirty="0"/>
              <a:t>—weren’t.</a:t>
            </a:r>
          </a:p>
          <a:p>
            <a:r>
              <a:rPr lang="en-US" dirty="0"/>
              <a:t>This reminds me of 1 Samuel 16:7: </a:t>
            </a:r>
            <a:r>
              <a:rPr lang="en-US" i="1" dirty="0"/>
              <a:t>“Man looks at the outward appearance, but the Lord looks at the heart.”</a:t>
            </a:r>
            <a:endParaRPr lang="en-US" dirty="0"/>
          </a:p>
          <a:p>
            <a:r>
              <a:rPr lang="en-US" dirty="0"/>
              <a:t>Scouts may see height, stats, and speed. But greatness? That’s forged in the unseen places—through discipline, humility, and heart.</a:t>
            </a:r>
          </a:p>
          <a:p>
            <a:endParaRPr lang="en-NG" dirty="0"/>
          </a:p>
        </p:txBody>
      </p:sp>
      <p:sp>
        <p:nvSpPr>
          <p:cNvPr id="4" name="Slide Number Placeholder 3"/>
          <p:cNvSpPr>
            <a:spLocks noGrp="1"/>
          </p:cNvSpPr>
          <p:nvPr>
            <p:ph type="sldNum" sz="quarter" idx="5"/>
          </p:nvPr>
        </p:nvSpPr>
        <p:spPr/>
        <p:txBody>
          <a:bodyPr/>
          <a:lstStyle/>
          <a:p>
            <a:fld id="{05C1D8F7-2BDD-4C56-98AF-2E212EF349F3}" type="slidenum">
              <a:rPr lang="en-US" smtClean="0"/>
              <a:t>4</a:t>
            </a:fld>
            <a:endParaRPr lang="en-US"/>
          </a:p>
        </p:txBody>
      </p:sp>
    </p:spTree>
    <p:extLst>
      <p:ext uri="{BB962C8B-B14F-4D97-AF65-F5344CB8AC3E}">
        <p14:creationId xmlns:p14="http://schemas.microsoft.com/office/powerpoint/2010/main" val="1354047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powerful insight: players from teams like Milwaukee and Sacramento tend to have longer careers.</a:t>
            </a:r>
          </a:p>
          <a:p>
            <a:r>
              <a:rPr lang="en-US" dirty="0"/>
              <a:t>Why? Because longevity isn’t just about talent—it’s about the environment. Just as a tree flourishes by streams of water, so too does a player thrive in a culture that nurtures growth.</a:t>
            </a:r>
          </a:p>
          <a:p>
            <a:r>
              <a:rPr lang="en-US" dirty="0"/>
              <a:t>This is true in life, too. The people around us—our mentors, our communities—can either drain us or develop us.</a:t>
            </a:r>
          </a:p>
          <a:p>
            <a:endParaRPr lang="en-NG" dirty="0"/>
          </a:p>
        </p:txBody>
      </p:sp>
      <p:sp>
        <p:nvSpPr>
          <p:cNvPr id="4" name="Slide Number Placeholder 3"/>
          <p:cNvSpPr>
            <a:spLocks noGrp="1"/>
          </p:cNvSpPr>
          <p:nvPr>
            <p:ph type="sldNum" sz="quarter" idx="5"/>
          </p:nvPr>
        </p:nvSpPr>
        <p:spPr/>
        <p:txBody>
          <a:bodyPr/>
          <a:lstStyle/>
          <a:p>
            <a:fld id="{05C1D8F7-2BDD-4C56-98AF-2E212EF349F3}" type="slidenum">
              <a:rPr lang="en-US" smtClean="0"/>
              <a:t>5</a:t>
            </a:fld>
            <a:endParaRPr lang="en-US"/>
          </a:p>
        </p:txBody>
      </p:sp>
    </p:spTree>
    <p:extLst>
      <p:ext uri="{BB962C8B-B14F-4D97-AF65-F5344CB8AC3E}">
        <p14:creationId xmlns:p14="http://schemas.microsoft.com/office/powerpoint/2010/main" val="11255071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picks often shine brighter on the scoreboard. But late picks? They still contribute. They still matter.</a:t>
            </a:r>
          </a:p>
          <a:p>
            <a:r>
              <a:rPr lang="en-US" dirty="0"/>
              <a:t>Think of the parable of the talents. One servant received five, another two, another one. But the reward wasn’t based on how much they were given—it was based on what they did with it.</a:t>
            </a:r>
          </a:p>
          <a:p>
            <a:r>
              <a:rPr lang="en-US" dirty="0"/>
              <a:t>In the NBA, as in life, it’s not about where you start. It’s about how you steward your opportunity.</a:t>
            </a:r>
          </a:p>
          <a:p>
            <a:endParaRPr lang="en-NG" dirty="0"/>
          </a:p>
        </p:txBody>
      </p:sp>
      <p:sp>
        <p:nvSpPr>
          <p:cNvPr id="4" name="Slide Number Placeholder 3"/>
          <p:cNvSpPr>
            <a:spLocks noGrp="1"/>
          </p:cNvSpPr>
          <p:nvPr>
            <p:ph type="sldNum" sz="quarter" idx="5"/>
          </p:nvPr>
        </p:nvSpPr>
        <p:spPr/>
        <p:txBody>
          <a:bodyPr/>
          <a:lstStyle/>
          <a:p>
            <a:fld id="{05C1D8F7-2BDD-4C56-98AF-2E212EF349F3}" type="slidenum">
              <a:rPr lang="en-US" smtClean="0"/>
              <a:t>6</a:t>
            </a:fld>
            <a:endParaRPr lang="en-US"/>
          </a:p>
        </p:txBody>
      </p:sp>
    </p:spTree>
    <p:extLst>
      <p:ext uri="{BB962C8B-B14F-4D97-AF65-F5344CB8AC3E}">
        <p14:creationId xmlns:p14="http://schemas.microsoft.com/office/powerpoint/2010/main" val="32761823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see a clear trend: higher picks tend to deliver more wins. But look closer—there are outliers. Surprises. Players who defy expectations.</a:t>
            </a:r>
          </a:p>
          <a:p>
            <a:r>
              <a:rPr lang="en-US" dirty="0"/>
              <a:t>Just like Gideon, who led an army of 300. Or Esther, an orphan who saved a nation. Or Jesus himself—born in a manger, not a palace.</a:t>
            </a:r>
          </a:p>
          <a:p>
            <a:r>
              <a:rPr lang="en-US" dirty="0"/>
              <a:t>God delights in using the unexpected. And so does the game of basketball.</a:t>
            </a:r>
          </a:p>
          <a:p>
            <a:endParaRPr lang="en-NG" dirty="0"/>
          </a:p>
        </p:txBody>
      </p:sp>
      <p:sp>
        <p:nvSpPr>
          <p:cNvPr id="4" name="Slide Number Placeholder 3"/>
          <p:cNvSpPr>
            <a:spLocks noGrp="1"/>
          </p:cNvSpPr>
          <p:nvPr>
            <p:ph type="sldNum" sz="quarter" idx="5"/>
          </p:nvPr>
        </p:nvSpPr>
        <p:spPr/>
        <p:txBody>
          <a:bodyPr/>
          <a:lstStyle/>
          <a:p>
            <a:fld id="{05C1D8F7-2BDD-4C56-98AF-2E212EF349F3}" type="slidenum">
              <a:rPr lang="en-US" smtClean="0"/>
              <a:t>7</a:t>
            </a:fld>
            <a:endParaRPr lang="en-US"/>
          </a:p>
        </p:txBody>
      </p:sp>
    </p:spTree>
    <p:extLst>
      <p:ext uri="{BB962C8B-B14F-4D97-AF65-F5344CB8AC3E}">
        <p14:creationId xmlns:p14="http://schemas.microsoft.com/office/powerpoint/2010/main" val="24629581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a:t>
            </a:r>
            <a:r>
              <a:rPr lang="en-US" dirty="0"/>
              <a:t>the ancient hills of Bethlehem, a young shepherd named David tended his flock. He was the youngest of eight brothers—so overlooked that when the prophet Samuel came to anoint the next king of Israel, David wasn’t even invited to the lineup.</a:t>
            </a:r>
          </a:p>
          <a:p>
            <a:r>
              <a:rPr lang="en-US" dirty="0"/>
              <a:t>Samuel examined each of David’s older brothers, impressed by their stature and strength. But God whispered, </a:t>
            </a:r>
            <a:r>
              <a:rPr lang="en-US" i="1" dirty="0"/>
              <a:t>“Do not consider his appearance or his height… The Lord does not look at the things people look at. People look at the outward appearance, but the Lord looks at the heart.”</a:t>
            </a:r>
            <a:r>
              <a:rPr lang="en-US" dirty="0"/>
              <a:t> (1 Samuel 16:7)</a:t>
            </a:r>
          </a:p>
          <a:p>
            <a:r>
              <a:rPr lang="en-US" dirty="0"/>
              <a:t>David was eventually called in from the fields. He wasn’t the obvious choice. He wasn’t the first-round pick. But he was God’s choice.</a:t>
            </a:r>
          </a:p>
          <a:p>
            <a:r>
              <a:rPr lang="en-US" dirty="0"/>
              <a:t>And from that moment, David’s journey began—not with a crown, but with courage. He faced Goliath with a sling and faith. He endured years of hardship, betrayal, and exile. But through it all, he remained faithful, resilient, and grounded in purpose.</a:t>
            </a:r>
          </a:p>
          <a:p>
            <a:r>
              <a:rPr lang="en-US" dirty="0"/>
              <a:t>David’s rise wasn’t about being chosen first—it was about being prepared, persistent, and placed in the right environment. He had the heart of a warrior, the humility of a servant, and the support of those who believed in him.</a:t>
            </a:r>
          </a:p>
          <a:p>
            <a:br>
              <a:rPr lang="en-US" dirty="0"/>
            </a:br>
            <a:endParaRPr lang="en-US" dirty="0"/>
          </a:p>
          <a:p>
            <a:r>
              <a:rPr lang="en-US" b="1" dirty="0"/>
              <a:t>🏀 Connecting to Today’s Message</a:t>
            </a:r>
          </a:p>
          <a:p>
            <a:r>
              <a:rPr lang="en-US" dirty="0"/>
              <a:t>Just like in the NBA, not everyone is a first-round pick. Some are chosen late. Some are overlooked. But with faith, effort, and the right environment, they rise.</a:t>
            </a:r>
          </a:p>
          <a:p>
            <a:r>
              <a:rPr lang="en-US" dirty="0"/>
              <a:t>David reminds us that our “draft position” in life doesn’t define our destiny. What matters is how we respond—how we grow, how we serve, and how we stay ready.</a:t>
            </a:r>
          </a:p>
          <a:p>
            <a:r>
              <a:rPr lang="en-US" dirty="0"/>
              <a:t>So whether you’re a top pick or a hidden gem, remember: greatness isn’t given. It’s grown.</a:t>
            </a:r>
          </a:p>
          <a:p>
            <a:br>
              <a:rPr lang="en-US" dirty="0"/>
            </a:br>
            <a:endParaRPr lang="en-US" dirty="0"/>
          </a:p>
          <a:p>
            <a:endParaRPr lang="en-NG" dirty="0"/>
          </a:p>
        </p:txBody>
      </p:sp>
      <p:sp>
        <p:nvSpPr>
          <p:cNvPr id="4" name="Slide Number Placeholder 3"/>
          <p:cNvSpPr>
            <a:spLocks noGrp="1"/>
          </p:cNvSpPr>
          <p:nvPr>
            <p:ph type="sldNum" sz="quarter" idx="5"/>
          </p:nvPr>
        </p:nvSpPr>
        <p:spPr/>
        <p:txBody>
          <a:bodyPr/>
          <a:lstStyle/>
          <a:p>
            <a:fld id="{05C1D8F7-2BDD-4C56-98AF-2E212EF349F3}" type="slidenum">
              <a:rPr lang="en-US" smtClean="0"/>
              <a:t>9</a:t>
            </a:fld>
            <a:endParaRPr lang="en-US"/>
          </a:p>
        </p:txBody>
      </p:sp>
    </p:spTree>
    <p:extLst>
      <p:ext uri="{BB962C8B-B14F-4D97-AF65-F5344CB8AC3E}">
        <p14:creationId xmlns:p14="http://schemas.microsoft.com/office/powerpoint/2010/main" val="13290038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638800" y="304801"/>
            <a:ext cx="5486400" cy="2514599"/>
          </a:xfrm>
        </p:spPr>
        <p:txBody>
          <a:bodyPr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5638800" y="2895600"/>
            <a:ext cx="5486400" cy="914400"/>
          </a:xfrm>
        </p:spPr>
        <p:txBody>
          <a:bodyPr/>
          <a:lstStyle>
            <a:lvl1pPr marL="0" indent="0" algn="l">
              <a:spcBef>
                <a:spcPts val="1200"/>
              </a:spcBef>
              <a:buNone/>
              <a:defRPr sz="2400">
                <a:solidFill>
                  <a:schemeClr val="bg2">
                    <a:lumMod val="25000"/>
                    <a:lumOff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820533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3762EC29-B8C5-4C7A-B6DA-418494D5CB21}" type="datetimeFigureOut">
              <a:rPr lang="en-US" smtClean="0"/>
              <a:t>11/18/2025</a:t>
            </a:fld>
            <a:endParaRPr lang="en-US"/>
          </a:p>
        </p:txBody>
      </p:sp>
      <p:sp>
        <p:nvSpPr>
          <p:cNvPr id="6" name="Slide Number Placeholder 5"/>
          <p:cNvSpPr>
            <a:spLocks noGrp="1"/>
          </p:cNvSpPr>
          <p:nvPr>
            <p:ph type="sldNum" sz="quarter" idx="12"/>
          </p:nvPr>
        </p:nvSpPr>
        <p:spPr/>
        <p:txBody>
          <a:bodyPr/>
          <a:lstStyle/>
          <a:p>
            <a:fld id="{F9043838-BFF5-400C-B067-3DF4A5F395D6}" type="slidenum">
              <a:rPr lang="en-US" smtClean="0"/>
              <a:t>‹#›</a:t>
            </a:fld>
            <a:endParaRPr lang="en-US"/>
          </a:p>
        </p:txBody>
      </p:sp>
    </p:spTree>
    <p:extLst>
      <p:ext uri="{BB962C8B-B14F-4D97-AF65-F5344CB8AC3E}">
        <p14:creationId xmlns:p14="http://schemas.microsoft.com/office/powerpoint/2010/main" val="3273009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60450" y="1676401"/>
            <a:ext cx="10058400" cy="1752600"/>
          </a:xfrm>
        </p:spPr>
        <p:txBody>
          <a:bodyPr anchor="b">
            <a:normAutofit/>
          </a:bodyPr>
          <a:lstStyle>
            <a:lvl1pPr>
              <a:defRPr sz="4800"/>
            </a:lvl1pPr>
          </a:lstStyle>
          <a:p>
            <a:r>
              <a:rPr lang="en-US"/>
              <a:t>Click to edit Master title style</a:t>
            </a:r>
          </a:p>
        </p:txBody>
      </p:sp>
      <p:sp>
        <p:nvSpPr>
          <p:cNvPr id="3" name="Text Placeholder 2"/>
          <p:cNvSpPr>
            <a:spLocks noGrp="1"/>
          </p:cNvSpPr>
          <p:nvPr>
            <p:ph type="body" idx="1"/>
          </p:nvPr>
        </p:nvSpPr>
        <p:spPr>
          <a:xfrm>
            <a:off x="1060450" y="3581400"/>
            <a:ext cx="10058400" cy="1143000"/>
          </a:xfrm>
        </p:spPr>
        <p:txBody>
          <a:bodyPr/>
          <a:lstStyle>
            <a:lvl1pPr marL="0" indent="0">
              <a:spcBef>
                <a:spcPts val="1200"/>
              </a:spcBef>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3762EC29-B8C5-4C7A-B6DA-418494D5CB21}" type="datetimeFigureOut">
              <a:rPr lang="en-US" smtClean="0"/>
              <a:t>11/18/2025</a:t>
            </a:fld>
            <a:endParaRPr lang="en-US"/>
          </a:p>
        </p:txBody>
      </p:sp>
      <p:sp>
        <p:nvSpPr>
          <p:cNvPr id="6" name="Slide Number Placeholder 5"/>
          <p:cNvSpPr>
            <a:spLocks noGrp="1"/>
          </p:cNvSpPr>
          <p:nvPr>
            <p:ph type="sldNum" sz="quarter" idx="12"/>
          </p:nvPr>
        </p:nvSpPr>
        <p:spPr/>
        <p:txBody>
          <a:bodyPr/>
          <a:lstStyle/>
          <a:p>
            <a:fld id="{F9043838-BFF5-400C-B067-3DF4A5F395D6}" type="slidenum">
              <a:rPr lang="en-US" smtClean="0"/>
              <a:t>‹#›</a:t>
            </a:fld>
            <a:endParaRPr lang="en-US"/>
          </a:p>
        </p:txBody>
      </p:sp>
    </p:spTree>
    <p:extLst>
      <p:ext uri="{BB962C8B-B14F-4D97-AF65-F5344CB8AC3E}">
        <p14:creationId xmlns:p14="http://schemas.microsoft.com/office/powerpoint/2010/main" val="415665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66800" y="1676401"/>
            <a:ext cx="484632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8880" y="1676401"/>
            <a:ext cx="484632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3762EC29-B8C5-4C7A-B6DA-418494D5CB21}" type="datetimeFigureOut">
              <a:rPr lang="en-US" smtClean="0"/>
              <a:t>11/18/2025</a:t>
            </a:fld>
            <a:endParaRPr lang="en-US"/>
          </a:p>
        </p:txBody>
      </p:sp>
      <p:sp>
        <p:nvSpPr>
          <p:cNvPr id="7" name="Slide Number Placeholder 6"/>
          <p:cNvSpPr>
            <a:spLocks noGrp="1"/>
          </p:cNvSpPr>
          <p:nvPr>
            <p:ph type="sldNum" sz="quarter" idx="12"/>
          </p:nvPr>
        </p:nvSpPr>
        <p:spPr/>
        <p:txBody>
          <a:bodyPr/>
          <a:lstStyle/>
          <a:p>
            <a:fld id="{F9043838-BFF5-400C-B067-3DF4A5F395D6}" type="slidenum">
              <a:rPr lang="en-US" smtClean="0"/>
              <a:t>‹#›</a:t>
            </a:fld>
            <a:endParaRPr lang="en-US"/>
          </a:p>
        </p:txBody>
      </p:sp>
    </p:spTree>
    <p:extLst>
      <p:ext uri="{BB962C8B-B14F-4D97-AF65-F5344CB8AC3E}">
        <p14:creationId xmlns:p14="http://schemas.microsoft.com/office/powerpoint/2010/main" val="3390256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066800" y="1681163"/>
            <a:ext cx="4846320" cy="823912"/>
          </a:xfrm>
        </p:spPr>
        <p:txBody>
          <a:bodyPr anchor="ctr"/>
          <a:lstStyle>
            <a:lvl1pPr marL="0" indent="0">
              <a:buNone/>
              <a:defRPr sz="2400" b="0">
                <a:solidFill>
                  <a:schemeClr val="bg2">
                    <a:lumMod val="50000"/>
                    <a:lumOff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6800" y="2505075"/>
            <a:ext cx="4846320" cy="3514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78880" y="1681163"/>
            <a:ext cx="4846320" cy="823912"/>
          </a:xfrm>
        </p:spPr>
        <p:txBody>
          <a:bodyPr anchor="ctr"/>
          <a:lstStyle>
            <a:lvl1pPr marL="0" indent="0">
              <a:buNone/>
              <a:defRPr sz="2400" b="0">
                <a:solidFill>
                  <a:schemeClr val="bg2">
                    <a:lumMod val="50000"/>
                    <a:lumOff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78880" y="2505075"/>
            <a:ext cx="4846320" cy="3514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3762EC29-B8C5-4C7A-B6DA-418494D5CB21}" type="datetimeFigureOut">
              <a:rPr lang="en-US" smtClean="0"/>
              <a:t>11/18/2025</a:t>
            </a:fld>
            <a:endParaRPr lang="en-US"/>
          </a:p>
        </p:txBody>
      </p:sp>
      <p:sp>
        <p:nvSpPr>
          <p:cNvPr id="9" name="Slide Number Placeholder 8"/>
          <p:cNvSpPr>
            <a:spLocks noGrp="1"/>
          </p:cNvSpPr>
          <p:nvPr>
            <p:ph type="sldNum" sz="quarter" idx="12"/>
          </p:nvPr>
        </p:nvSpPr>
        <p:spPr/>
        <p:txBody>
          <a:bodyPr/>
          <a:lstStyle/>
          <a:p>
            <a:fld id="{F9043838-BFF5-400C-B067-3DF4A5F395D6}" type="slidenum">
              <a:rPr lang="en-US" smtClean="0"/>
              <a:t>‹#›</a:t>
            </a:fld>
            <a:endParaRPr lang="en-US"/>
          </a:p>
        </p:txBody>
      </p:sp>
    </p:spTree>
    <p:extLst>
      <p:ext uri="{BB962C8B-B14F-4D97-AF65-F5344CB8AC3E}">
        <p14:creationId xmlns:p14="http://schemas.microsoft.com/office/powerpoint/2010/main" val="692426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3762EC29-B8C5-4C7A-B6DA-418494D5CB21}" type="datetimeFigureOut">
              <a:rPr lang="en-US" smtClean="0"/>
              <a:t>11/18/2025</a:t>
            </a:fld>
            <a:endParaRPr lang="en-US"/>
          </a:p>
        </p:txBody>
      </p:sp>
      <p:sp>
        <p:nvSpPr>
          <p:cNvPr id="5" name="Slide Number Placeholder 4"/>
          <p:cNvSpPr>
            <a:spLocks noGrp="1"/>
          </p:cNvSpPr>
          <p:nvPr>
            <p:ph type="sldNum" sz="quarter" idx="12"/>
          </p:nvPr>
        </p:nvSpPr>
        <p:spPr/>
        <p:txBody>
          <a:bodyPr/>
          <a:lstStyle/>
          <a:p>
            <a:fld id="{F9043838-BFF5-400C-B067-3DF4A5F395D6}" type="slidenum">
              <a:rPr lang="en-US" smtClean="0"/>
              <a:t>‹#›</a:t>
            </a:fld>
            <a:endParaRPr lang="en-US"/>
          </a:p>
        </p:txBody>
      </p:sp>
    </p:spTree>
    <p:extLst>
      <p:ext uri="{BB962C8B-B14F-4D97-AF65-F5344CB8AC3E}">
        <p14:creationId xmlns:p14="http://schemas.microsoft.com/office/powerpoint/2010/main" val="3810930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3762EC29-B8C5-4C7A-B6DA-418494D5CB21}" type="datetimeFigureOut">
              <a:rPr lang="en-US" smtClean="0"/>
              <a:t>11/18/2025</a:t>
            </a:fld>
            <a:endParaRPr lang="en-US"/>
          </a:p>
        </p:txBody>
      </p:sp>
      <p:sp>
        <p:nvSpPr>
          <p:cNvPr id="4" name="Slide Number Placeholder 3"/>
          <p:cNvSpPr>
            <a:spLocks noGrp="1"/>
          </p:cNvSpPr>
          <p:nvPr>
            <p:ph type="sldNum" sz="quarter" idx="12"/>
          </p:nvPr>
        </p:nvSpPr>
        <p:spPr/>
        <p:txBody>
          <a:bodyPr/>
          <a:lstStyle/>
          <a:p>
            <a:fld id="{F9043838-BFF5-400C-B067-3DF4A5F395D6}" type="slidenum">
              <a:rPr lang="en-US" smtClean="0"/>
              <a:t>‹#›</a:t>
            </a:fld>
            <a:endParaRPr lang="en-US"/>
          </a:p>
        </p:txBody>
      </p:sp>
    </p:spTree>
    <p:extLst>
      <p:ext uri="{BB962C8B-B14F-4D97-AF65-F5344CB8AC3E}">
        <p14:creationId xmlns:p14="http://schemas.microsoft.com/office/powerpoint/2010/main" val="2351200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7467600" cy="6858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24800" y="838200"/>
            <a:ext cx="3657600" cy="2133600"/>
          </a:xfrm>
        </p:spPr>
        <p:txBody>
          <a:bodyPr anchor="b">
            <a:normAutofit/>
          </a:bodyPr>
          <a:lstStyle>
            <a:lvl1pPr>
              <a:defRPr sz="3600"/>
            </a:lvl1pPr>
          </a:lstStyle>
          <a:p>
            <a:r>
              <a:rPr lang="en-US"/>
              <a:t>Click to edit Master title style</a:t>
            </a:r>
          </a:p>
        </p:txBody>
      </p:sp>
      <p:sp>
        <p:nvSpPr>
          <p:cNvPr id="3" name="Content Placeholder 2"/>
          <p:cNvSpPr>
            <a:spLocks noGrp="1"/>
          </p:cNvSpPr>
          <p:nvPr>
            <p:ph idx="1"/>
          </p:nvPr>
        </p:nvSpPr>
        <p:spPr>
          <a:xfrm>
            <a:off x="609600" y="838200"/>
            <a:ext cx="6172200" cy="5181601"/>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24802" y="3124200"/>
            <a:ext cx="3657600" cy="2895600"/>
          </a:xfrm>
        </p:spPr>
        <p:txBody>
          <a:bodyPr>
            <a:normAutofit/>
          </a:bodyPr>
          <a:lstStyle>
            <a:lvl1pPr marL="0" indent="0">
              <a:spcBef>
                <a:spcPts val="1200"/>
              </a:spcBef>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979593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24800" y="838200"/>
            <a:ext cx="3657600" cy="2133600"/>
          </a:xfrm>
        </p:spPr>
        <p:txBody>
          <a:bodyPr anchor="b">
            <a:normAutofit/>
          </a:bodyPr>
          <a:lstStyle>
            <a:lvl1pPr>
              <a:defRPr sz="3600"/>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0" y="0"/>
            <a:ext cx="7239000" cy="6858000"/>
          </a:xfrm>
          <a:solidFill>
            <a:schemeClr val="bg1"/>
          </a:solidFill>
        </p:spPr>
        <p:txBody>
          <a:bodyPr tIns="36576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24801" y="3124200"/>
            <a:ext cx="3657600" cy="2895600"/>
          </a:xfrm>
        </p:spPr>
        <p:txBody>
          <a:bodyPr>
            <a:normAutofit/>
          </a:bodyPr>
          <a:lstStyle>
            <a:lvl1pPr marL="0" indent="0">
              <a:spcBef>
                <a:spcPts val="1200"/>
              </a:spcBef>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Rectangle 7"/>
          <p:cNvSpPr/>
          <p:nvPr/>
        </p:nvSpPr>
        <p:spPr>
          <a:xfrm>
            <a:off x="7239000" y="0"/>
            <a:ext cx="228600" cy="6858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4115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3762EC29-B8C5-4C7A-B6DA-418494D5CB21}" type="datetimeFigureOut">
              <a:rPr lang="en-US" smtClean="0"/>
              <a:t>11/18/2025</a:t>
            </a:fld>
            <a:endParaRPr lang="en-US"/>
          </a:p>
        </p:txBody>
      </p:sp>
      <p:sp>
        <p:nvSpPr>
          <p:cNvPr id="6" name="Slide Number Placeholder 5"/>
          <p:cNvSpPr>
            <a:spLocks noGrp="1"/>
          </p:cNvSpPr>
          <p:nvPr>
            <p:ph type="sldNum" sz="quarter" idx="12"/>
          </p:nvPr>
        </p:nvSpPr>
        <p:spPr/>
        <p:txBody>
          <a:bodyPr/>
          <a:lstStyle/>
          <a:p>
            <a:fld id="{F9043838-BFF5-400C-B067-3DF4A5F395D6}" type="slidenum">
              <a:rPr lang="en-US" smtClean="0"/>
              <a:t>‹#›</a:t>
            </a:fld>
            <a:endParaRPr lang="en-US"/>
          </a:p>
        </p:txBody>
      </p:sp>
    </p:spTree>
    <p:extLst>
      <p:ext uri="{BB962C8B-B14F-4D97-AF65-F5344CB8AC3E}">
        <p14:creationId xmlns:p14="http://schemas.microsoft.com/office/powerpoint/2010/main" val="3174512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6400" y="365125"/>
            <a:ext cx="1828800" cy="56546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66800" y="365125"/>
            <a:ext cx="8001000" cy="5654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3762EC29-B8C5-4C7A-B6DA-418494D5CB21}" type="datetimeFigureOut">
              <a:rPr lang="en-US" smtClean="0"/>
              <a:t>11/18/2025</a:t>
            </a:fld>
            <a:endParaRPr lang="en-US"/>
          </a:p>
        </p:txBody>
      </p:sp>
      <p:sp>
        <p:nvSpPr>
          <p:cNvPr id="6" name="Slide Number Placeholder 5"/>
          <p:cNvSpPr>
            <a:spLocks noGrp="1"/>
          </p:cNvSpPr>
          <p:nvPr>
            <p:ph type="sldNum" sz="quarter" idx="12"/>
          </p:nvPr>
        </p:nvSpPr>
        <p:spPr/>
        <p:txBody>
          <a:bodyPr/>
          <a:lstStyle/>
          <a:p>
            <a:fld id="{F9043838-BFF5-400C-B067-3DF4A5F395D6}" type="slidenum">
              <a:rPr lang="en-US" smtClean="0"/>
              <a:t>‹#›</a:t>
            </a:fld>
            <a:endParaRPr lang="en-US"/>
          </a:p>
        </p:txBody>
      </p:sp>
    </p:spTree>
    <p:extLst>
      <p:ext uri="{BB962C8B-B14F-4D97-AF65-F5344CB8AC3E}">
        <p14:creationId xmlns:p14="http://schemas.microsoft.com/office/powerpoint/2010/main" val="447379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6800" y="304800"/>
            <a:ext cx="10058400" cy="114300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066800" y="1676400"/>
            <a:ext cx="10058400" cy="4343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1070918" y="6392562"/>
            <a:ext cx="7082481" cy="180976"/>
          </a:xfrm>
          <a:prstGeom prst="rect">
            <a:avLst/>
          </a:prstGeom>
        </p:spPr>
        <p:txBody>
          <a:bodyPr vert="horz" lIns="91440" tIns="45720" rIns="91440" bIns="45720" rtlCol="0" anchor="ctr"/>
          <a:lstStyle>
            <a:lvl1pPr algn="l">
              <a:defRPr sz="1100">
                <a:solidFill>
                  <a:schemeClr val="tx1">
                    <a:tint val="75000"/>
                  </a:schemeClr>
                </a:solidFill>
              </a:defRPr>
            </a:lvl1pPr>
          </a:lstStyle>
          <a:p>
            <a:r>
              <a:rPr lang="en-US" dirty="0"/>
              <a:t>Add a footer</a:t>
            </a:r>
          </a:p>
        </p:txBody>
      </p:sp>
      <p:sp>
        <p:nvSpPr>
          <p:cNvPr id="4" name="Date Placeholder 3"/>
          <p:cNvSpPr>
            <a:spLocks noGrp="1"/>
          </p:cNvSpPr>
          <p:nvPr>
            <p:ph type="dt" sz="half" idx="2"/>
          </p:nvPr>
        </p:nvSpPr>
        <p:spPr>
          <a:xfrm>
            <a:off x="8534400" y="6392562"/>
            <a:ext cx="1295400" cy="180976"/>
          </a:xfrm>
          <a:prstGeom prst="rect">
            <a:avLst/>
          </a:prstGeom>
        </p:spPr>
        <p:txBody>
          <a:bodyPr vert="horz" lIns="91440" tIns="45720" rIns="91440" bIns="45720" rtlCol="0" anchor="ctr"/>
          <a:lstStyle>
            <a:lvl1pPr algn="r">
              <a:defRPr sz="1100">
                <a:solidFill>
                  <a:schemeClr val="tx1">
                    <a:tint val="75000"/>
                  </a:schemeClr>
                </a:solidFill>
              </a:defRPr>
            </a:lvl1pPr>
          </a:lstStyle>
          <a:p>
            <a:fld id="{3762EC29-B8C5-4C7A-B6DA-418494D5CB21}" type="datetimeFigureOut">
              <a:rPr lang="en-US" smtClean="0"/>
              <a:pPr/>
              <a:t>11/18/2025</a:t>
            </a:fld>
            <a:endParaRPr lang="en-US"/>
          </a:p>
        </p:txBody>
      </p:sp>
      <p:sp>
        <p:nvSpPr>
          <p:cNvPr id="6" name="Slide Number Placeholder 5"/>
          <p:cNvSpPr>
            <a:spLocks noGrp="1"/>
          </p:cNvSpPr>
          <p:nvPr>
            <p:ph type="sldNum" sz="quarter" idx="4"/>
          </p:nvPr>
        </p:nvSpPr>
        <p:spPr>
          <a:xfrm>
            <a:off x="10058400" y="6392562"/>
            <a:ext cx="1066800" cy="180976"/>
          </a:xfrm>
          <a:prstGeom prst="rect">
            <a:avLst/>
          </a:prstGeom>
        </p:spPr>
        <p:txBody>
          <a:bodyPr vert="horz" lIns="91440" tIns="45720" rIns="91440" bIns="45720" rtlCol="0" anchor="ctr"/>
          <a:lstStyle>
            <a:lvl1pPr algn="r">
              <a:defRPr sz="1100">
                <a:solidFill>
                  <a:schemeClr val="tx1">
                    <a:tint val="75000"/>
                  </a:schemeClr>
                </a:solidFill>
              </a:defRPr>
            </a:lvl1pPr>
          </a:lstStyle>
          <a:p>
            <a:fld id="{F9043838-BFF5-400C-B067-3DF4A5F395D6}" type="slidenum">
              <a:rPr lang="en-US" smtClean="0"/>
              <a:pPr/>
              <a:t>‹#›</a:t>
            </a:fld>
            <a:endParaRPr lang="en-US"/>
          </a:p>
        </p:txBody>
      </p:sp>
    </p:spTree>
    <p:extLst>
      <p:ext uri="{BB962C8B-B14F-4D97-AF65-F5344CB8AC3E}">
        <p14:creationId xmlns:p14="http://schemas.microsoft.com/office/powerpoint/2010/main" val="2569209519"/>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Arial" panose="020B0604020202020204"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1200"/>
        </a:spcBef>
        <a:buFont typeface="Arial" panose="020B0604020202020204" pitchFamily="34"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Font typeface="Arial" panose="020B0604020202020204" pitchFamily="34" charset="0"/>
        <a:buChar char="•"/>
        <a:defRPr sz="1800" kern="1200">
          <a:solidFill>
            <a:schemeClr val="tx1"/>
          </a:solidFill>
          <a:latin typeface="+mn-lt"/>
          <a:ea typeface="+mn-ea"/>
          <a:cs typeface="+mn-cs"/>
        </a:defRPr>
      </a:lvl3pPr>
      <a:lvl4pPr marL="1051560" indent="-228600" algn="l" defTabSz="914400" rtl="0" eaLnBrk="1" latinLnBrk="0" hangingPunct="1">
        <a:lnSpc>
          <a:spcPct val="90000"/>
        </a:lnSpc>
        <a:spcBef>
          <a:spcPts val="600"/>
        </a:spcBef>
        <a:buFont typeface="Arial" panose="020B0604020202020204" pitchFamily="34" charset="0"/>
        <a:buChar char="•"/>
        <a:defRPr sz="1600" kern="1200">
          <a:solidFill>
            <a:schemeClr val="tx1"/>
          </a:solidFill>
          <a:latin typeface="+mn-lt"/>
          <a:ea typeface="+mn-ea"/>
          <a:cs typeface="+mn-cs"/>
        </a:defRPr>
      </a:lvl4pPr>
      <a:lvl5pPr marL="1325880" indent="-228600" algn="l" defTabSz="914400" rtl="0" eaLnBrk="1" latinLnBrk="0" hangingPunct="1">
        <a:lnSpc>
          <a:spcPct val="90000"/>
        </a:lnSpc>
        <a:spcBef>
          <a:spcPts val="600"/>
        </a:spcBef>
        <a:buFont typeface="Arial" panose="020B0604020202020204" pitchFamily="34" charset="0"/>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600"/>
        </a:spcBef>
        <a:buFont typeface="Arial" panose="020B0604020202020204" pitchFamily="34" charset="0"/>
        <a:buChar char="•"/>
        <a:defRPr sz="1600" kern="1200">
          <a:solidFill>
            <a:schemeClr val="tx1"/>
          </a:solidFill>
          <a:latin typeface="+mn-lt"/>
          <a:ea typeface="+mn-ea"/>
          <a:cs typeface="+mn-cs"/>
        </a:defRPr>
      </a:lvl6pPr>
      <a:lvl7pPr marL="1874520" indent="-228600" algn="l" defTabSz="914400" rtl="0" eaLnBrk="1" latinLnBrk="0" hangingPunct="1">
        <a:lnSpc>
          <a:spcPct val="90000"/>
        </a:lnSpc>
        <a:spcBef>
          <a:spcPts val="600"/>
        </a:spcBef>
        <a:buFont typeface="Arial" panose="020B0604020202020204" pitchFamily="34" charset="0"/>
        <a:buChar char="•"/>
        <a:defRPr sz="1600" kern="1200">
          <a:solidFill>
            <a:schemeClr val="tx1"/>
          </a:solidFill>
          <a:latin typeface="+mn-lt"/>
          <a:ea typeface="+mn-ea"/>
          <a:cs typeface="+mn-cs"/>
        </a:defRPr>
      </a:lvl7pPr>
      <a:lvl8pPr marL="2148840" indent="-228600" algn="l" defTabSz="914400" rtl="0" eaLnBrk="1" latinLnBrk="0" hangingPunct="1">
        <a:lnSpc>
          <a:spcPct val="90000"/>
        </a:lnSpc>
        <a:spcBef>
          <a:spcPts val="600"/>
        </a:spcBef>
        <a:buFont typeface="Arial" panose="020B0604020202020204" pitchFamily="34" charset="0"/>
        <a:buChar char="•"/>
        <a:defRPr sz="1600" kern="1200">
          <a:solidFill>
            <a:schemeClr val="tx1"/>
          </a:solidFill>
          <a:latin typeface="+mn-lt"/>
          <a:ea typeface="+mn-ea"/>
          <a:cs typeface="+mn-cs"/>
        </a:defRPr>
      </a:lvl8pPr>
      <a:lvl9pPr marL="2423160" indent="-228600" algn="l" defTabSz="914400" rtl="0" eaLnBrk="1" latinLnBrk="0" hangingPunct="1">
        <a:lnSpc>
          <a:spcPct val="90000"/>
        </a:lnSpc>
        <a:spcBef>
          <a:spcPts val="6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chart" Target="../charts/chart4.xml"/></Relationships>
</file>

<file path=ppt/slides/_rels/slide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638800" y="605591"/>
            <a:ext cx="5857800" cy="2514599"/>
          </a:xfrm>
        </p:spPr>
        <p:txBody>
          <a:bodyPr>
            <a:normAutofit/>
          </a:bodyPr>
          <a:lstStyle/>
          <a:p>
            <a:r>
              <a:rPr lang="en-US" dirty="0"/>
              <a:t>TEAM ALPHA NBA ANALYSIS</a:t>
            </a:r>
          </a:p>
        </p:txBody>
      </p:sp>
      <p:sp>
        <p:nvSpPr>
          <p:cNvPr id="3" name="Subtitle 2"/>
          <p:cNvSpPr>
            <a:spLocks noGrp="1"/>
          </p:cNvSpPr>
          <p:nvPr>
            <p:ph type="subTitle" idx="1"/>
          </p:nvPr>
        </p:nvSpPr>
        <p:spPr>
          <a:xfrm>
            <a:off x="5638800" y="3120190"/>
            <a:ext cx="5486400" cy="914400"/>
          </a:xfrm>
        </p:spPr>
        <p:txBody>
          <a:bodyPr/>
          <a:lstStyle/>
          <a:p>
            <a:r>
              <a:rPr lang="en-US" dirty="0"/>
              <a:t>Exploring Draft Impact, Player Performance &amp; Career Longevity</a:t>
            </a:r>
          </a:p>
        </p:txBody>
      </p:sp>
    </p:spTree>
    <p:extLst>
      <p:ext uri="{BB962C8B-B14F-4D97-AF65-F5344CB8AC3E}">
        <p14:creationId xmlns:p14="http://schemas.microsoft.com/office/powerpoint/2010/main" val="576090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1268760"/>
            <a:ext cx="10058400" cy="1143000"/>
          </a:xfrm>
        </p:spPr>
        <p:txBody>
          <a:bodyPr>
            <a:normAutofit/>
          </a:bodyPr>
          <a:lstStyle/>
          <a:p>
            <a:r>
              <a:rPr lang="en-US" sz="4400" dirty="0"/>
              <a:t>BRIEF OVERVIEW OF THE DASHBOARD</a:t>
            </a:r>
          </a:p>
        </p:txBody>
      </p:sp>
      <p:sp>
        <p:nvSpPr>
          <p:cNvPr id="3" name="Content Placeholder 2"/>
          <p:cNvSpPr>
            <a:spLocks noGrp="1"/>
          </p:cNvSpPr>
          <p:nvPr>
            <p:ph idx="1"/>
          </p:nvPr>
        </p:nvSpPr>
        <p:spPr>
          <a:xfrm>
            <a:off x="1066800" y="2819400"/>
            <a:ext cx="10058400" cy="1608584"/>
          </a:xfrm>
        </p:spPr>
        <p:txBody>
          <a:bodyPr>
            <a:normAutofit/>
          </a:bodyPr>
          <a:lstStyle/>
          <a:p>
            <a:pPr marL="0" indent="0">
              <a:buNone/>
            </a:pPr>
            <a:r>
              <a:rPr lang="en-US" sz="4400" dirty="0"/>
              <a:t>Purpose: Understand how draft position affects player success and career span</a:t>
            </a:r>
          </a:p>
        </p:txBody>
      </p:sp>
    </p:spTree>
    <p:extLst>
      <p:ext uri="{BB962C8B-B14F-4D97-AF65-F5344CB8AC3E}">
        <p14:creationId xmlns:p14="http://schemas.microsoft.com/office/powerpoint/2010/main" val="2905083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KEY TAKEAWAY</a:t>
            </a:r>
          </a:p>
        </p:txBody>
      </p:sp>
      <p:sp>
        <p:nvSpPr>
          <p:cNvPr id="4" name="Text Placeholder 3"/>
          <p:cNvSpPr>
            <a:spLocks noGrp="1"/>
          </p:cNvSpPr>
          <p:nvPr>
            <p:ph type="body" sz="half" idx="2"/>
          </p:nvPr>
        </p:nvSpPr>
        <p:spPr/>
        <p:txBody>
          <a:bodyPr>
            <a:normAutofit/>
          </a:bodyPr>
          <a:lstStyle/>
          <a:p>
            <a:r>
              <a:rPr lang="en-US" sz="4000" dirty="0"/>
              <a:t>Earlier draft picks tend to have longer careers</a:t>
            </a:r>
          </a:p>
        </p:txBody>
      </p:sp>
      <p:graphicFrame>
        <p:nvGraphicFramePr>
          <p:cNvPr id="7" name="Content Placeholder 6">
            <a:extLst>
              <a:ext uri="{FF2B5EF4-FFF2-40B4-BE49-F238E27FC236}">
                <a16:creationId xmlns:a16="http://schemas.microsoft.com/office/drawing/2014/main" id="{CA996ACD-C613-41B2-BD89-0ED90A44C615}"/>
              </a:ext>
            </a:extLst>
          </p:cNvPr>
          <p:cNvGraphicFramePr>
            <a:graphicFrameLocks noGrp="1"/>
          </p:cNvGraphicFramePr>
          <p:nvPr>
            <p:ph idx="1"/>
          </p:nvPr>
        </p:nvGraphicFramePr>
        <p:xfrm>
          <a:off x="609600" y="838200"/>
          <a:ext cx="6172200" cy="51816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49577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1" y="826168"/>
            <a:ext cx="10058400" cy="1143000"/>
          </a:xfrm>
        </p:spPr>
        <p:txBody>
          <a:bodyPr>
            <a:normAutofit/>
          </a:bodyPr>
          <a:lstStyle/>
          <a:p>
            <a:r>
              <a:rPr lang="en-US" sz="4400" dirty="0"/>
              <a:t>TOP SCORERS</a:t>
            </a:r>
          </a:p>
        </p:txBody>
      </p:sp>
      <p:sp>
        <p:nvSpPr>
          <p:cNvPr id="3" name="Content Placeholder 2"/>
          <p:cNvSpPr>
            <a:spLocks noGrp="1"/>
          </p:cNvSpPr>
          <p:nvPr>
            <p:ph sz="half" idx="1"/>
          </p:nvPr>
        </p:nvSpPr>
        <p:spPr>
          <a:xfrm>
            <a:off x="1067118" y="2194103"/>
            <a:ext cx="4846320" cy="4343400"/>
          </a:xfrm>
        </p:spPr>
        <p:txBody>
          <a:bodyPr>
            <a:normAutofit/>
          </a:bodyPr>
          <a:lstStyle/>
          <a:p>
            <a:pPr marL="0" indent="0">
              <a:buNone/>
            </a:pPr>
            <a:r>
              <a:rPr lang="en-US" sz="4000" dirty="0"/>
              <a:t>Talent can emerge from any draft position</a:t>
            </a:r>
          </a:p>
        </p:txBody>
      </p:sp>
      <p:graphicFrame>
        <p:nvGraphicFramePr>
          <p:cNvPr id="7" name="Content Placeholder 6">
            <a:extLst>
              <a:ext uri="{FF2B5EF4-FFF2-40B4-BE49-F238E27FC236}">
                <a16:creationId xmlns:a16="http://schemas.microsoft.com/office/drawing/2014/main" id="{C3A5759A-F102-4458-A634-6DAD033280B0}"/>
              </a:ext>
            </a:extLst>
          </p:cNvPr>
          <p:cNvGraphicFramePr>
            <a:graphicFrameLocks noGrp="1"/>
          </p:cNvGraphicFramePr>
          <p:nvPr>
            <p:ph sz="half" idx="2"/>
            <p:extLst>
              <p:ext uri="{D42A27DB-BD31-4B8C-83A1-F6EECF244321}">
                <p14:modId xmlns:p14="http://schemas.microsoft.com/office/powerpoint/2010/main" val="562362665"/>
              </p:ext>
            </p:extLst>
          </p:nvPr>
        </p:nvGraphicFramePr>
        <p:xfrm>
          <a:off x="6278563" y="1447800"/>
          <a:ext cx="5218037" cy="4572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98391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9600" y="70900"/>
            <a:ext cx="4819526" cy="1752600"/>
          </a:xfrm>
        </p:spPr>
        <p:txBody>
          <a:bodyPr>
            <a:normAutofit/>
          </a:bodyPr>
          <a:lstStyle/>
          <a:p>
            <a:r>
              <a:rPr lang="en-US" sz="4400" dirty="0"/>
              <a:t>LONGEVITY BY TEAM</a:t>
            </a:r>
          </a:p>
        </p:txBody>
      </p:sp>
      <p:sp>
        <p:nvSpPr>
          <p:cNvPr id="3" name="Text Placeholder 2"/>
          <p:cNvSpPr>
            <a:spLocks noGrp="1"/>
          </p:cNvSpPr>
          <p:nvPr>
            <p:ph type="body" idx="1"/>
          </p:nvPr>
        </p:nvSpPr>
        <p:spPr>
          <a:xfrm>
            <a:off x="1029600" y="2060848"/>
            <a:ext cx="5427892" cy="4039943"/>
          </a:xfrm>
        </p:spPr>
        <p:txBody>
          <a:bodyPr>
            <a:normAutofit/>
          </a:bodyPr>
          <a:lstStyle/>
          <a:p>
            <a:r>
              <a:rPr lang="en-US" sz="4000" dirty="0"/>
              <a:t>Longevity isn’t just about talent—it’s also about the environment. </a:t>
            </a:r>
            <a:r>
              <a:rPr lang="en-US" sz="4400" dirty="0"/>
              <a:t>Teams</a:t>
            </a:r>
            <a:r>
              <a:rPr lang="en-US" sz="4000" dirty="0"/>
              <a:t> that invest in their players’ growth and well-being tend to retain them longer.</a:t>
            </a:r>
          </a:p>
        </p:txBody>
      </p:sp>
      <p:graphicFrame>
        <p:nvGraphicFramePr>
          <p:cNvPr id="4" name="Chart 3">
            <a:extLst>
              <a:ext uri="{FF2B5EF4-FFF2-40B4-BE49-F238E27FC236}">
                <a16:creationId xmlns:a16="http://schemas.microsoft.com/office/drawing/2014/main" id="{B7E8013E-EFAC-456F-AD2C-6E5B050FAB4B}"/>
              </a:ext>
            </a:extLst>
          </p:cNvPr>
          <p:cNvGraphicFramePr>
            <a:graphicFrameLocks/>
          </p:cNvGraphicFramePr>
          <p:nvPr>
            <p:extLst>
              <p:ext uri="{D42A27DB-BD31-4B8C-83A1-F6EECF244321}">
                <p14:modId xmlns:p14="http://schemas.microsoft.com/office/powerpoint/2010/main" val="361975721"/>
              </p:ext>
            </p:extLst>
          </p:nvPr>
        </p:nvGraphicFramePr>
        <p:xfrm>
          <a:off x="7032105" y="893774"/>
          <a:ext cx="4536504" cy="534353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B7E8013E-EFAC-456F-AD2C-6E5B050FAB4B}"/>
              </a:ext>
            </a:extLst>
          </p:cNvPr>
          <p:cNvGraphicFramePr>
            <a:graphicFrameLocks/>
          </p:cNvGraphicFramePr>
          <p:nvPr>
            <p:extLst>
              <p:ext uri="{D42A27DB-BD31-4B8C-83A1-F6EECF244321}">
                <p14:modId xmlns:p14="http://schemas.microsoft.com/office/powerpoint/2010/main" val="2321763420"/>
              </p:ext>
            </p:extLst>
          </p:nvPr>
        </p:nvGraphicFramePr>
        <p:xfrm>
          <a:off x="7032105" y="1088740"/>
          <a:ext cx="4572405" cy="468052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993111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AVERAGE POINTS PER GAME BY DRAFT ROUND</a:t>
            </a:r>
          </a:p>
        </p:txBody>
      </p:sp>
      <p:sp>
        <p:nvSpPr>
          <p:cNvPr id="6" name="Content Placeholder 5"/>
          <p:cNvSpPr>
            <a:spLocks noGrp="1"/>
          </p:cNvSpPr>
          <p:nvPr>
            <p:ph sz="quarter" idx="4"/>
          </p:nvPr>
        </p:nvSpPr>
        <p:spPr>
          <a:xfrm>
            <a:off x="6278880" y="1681163"/>
            <a:ext cx="4846320" cy="4556149"/>
          </a:xfrm>
        </p:spPr>
        <p:txBody>
          <a:bodyPr>
            <a:normAutofit/>
          </a:bodyPr>
          <a:lstStyle/>
          <a:p>
            <a:pPr marL="0" indent="0">
              <a:buNone/>
            </a:pPr>
            <a:r>
              <a:rPr lang="en-US" sz="4000" dirty="0"/>
              <a:t>While early picks often become stars, late-round players can still be valuable role players. Scouting for fit and potential matters just as much as draft order.</a:t>
            </a:r>
          </a:p>
        </p:txBody>
      </p:sp>
      <p:graphicFrame>
        <p:nvGraphicFramePr>
          <p:cNvPr id="7" name="Content Placeholder 6">
            <a:extLst>
              <a:ext uri="{FF2B5EF4-FFF2-40B4-BE49-F238E27FC236}">
                <a16:creationId xmlns:a16="http://schemas.microsoft.com/office/drawing/2014/main" id="{24FAEF82-6719-4621-B1F1-28FD2D60B0B7}"/>
              </a:ext>
            </a:extLst>
          </p:cNvPr>
          <p:cNvGraphicFramePr>
            <a:graphicFrameLocks noGrp="1"/>
          </p:cNvGraphicFramePr>
          <p:nvPr>
            <p:ph sz="half" idx="2"/>
            <p:extLst>
              <p:ext uri="{D42A27DB-BD31-4B8C-83A1-F6EECF244321}">
                <p14:modId xmlns:p14="http://schemas.microsoft.com/office/powerpoint/2010/main" val="3276275851"/>
              </p:ext>
            </p:extLst>
          </p:nvPr>
        </p:nvGraphicFramePr>
        <p:xfrm>
          <a:off x="479376" y="1463651"/>
          <a:ext cx="5434062" cy="455614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078798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DRAFT POSITION VS. WIN SHARES</a:t>
            </a:r>
          </a:p>
        </p:txBody>
      </p:sp>
      <p:sp>
        <p:nvSpPr>
          <p:cNvPr id="5" name="Rectangle 4">
            <a:extLst>
              <a:ext uri="{FF2B5EF4-FFF2-40B4-BE49-F238E27FC236}">
                <a16:creationId xmlns:a16="http://schemas.microsoft.com/office/drawing/2014/main" id="{4E3F08BB-F464-FB91-80DF-74C133120C7C}"/>
              </a:ext>
            </a:extLst>
          </p:cNvPr>
          <p:cNvSpPr/>
          <p:nvPr/>
        </p:nvSpPr>
        <p:spPr>
          <a:xfrm>
            <a:off x="1390582" y="1940333"/>
            <a:ext cx="9709720" cy="3456384"/>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NG" dirty="0"/>
          </a:p>
        </p:txBody>
      </p:sp>
      <p:graphicFrame>
        <p:nvGraphicFramePr>
          <p:cNvPr id="6" name="Chart 5">
            <a:extLst>
              <a:ext uri="{FF2B5EF4-FFF2-40B4-BE49-F238E27FC236}">
                <a16:creationId xmlns:a16="http://schemas.microsoft.com/office/drawing/2014/main" id="{425F362C-A38D-46C5-B46E-3DBDD0E0EDFC}"/>
              </a:ext>
            </a:extLst>
          </p:cNvPr>
          <p:cNvGraphicFramePr>
            <a:graphicFrameLocks/>
          </p:cNvGraphicFramePr>
          <p:nvPr>
            <p:extLst>
              <p:ext uri="{D42A27DB-BD31-4B8C-83A1-F6EECF244321}">
                <p14:modId xmlns:p14="http://schemas.microsoft.com/office/powerpoint/2010/main" val="3314390326"/>
              </p:ext>
            </p:extLst>
          </p:nvPr>
        </p:nvGraphicFramePr>
        <p:xfrm>
          <a:off x="1426368" y="1940333"/>
          <a:ext cx="9709720" cy="345638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864551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D25A54-684E-4173-FCF4-1BC885ACF505}"/>
              </a:ext>
            </a:extLst>
          </p:cNvPr>
          <p:cNvSpPr>
            <a:spLocks noChangeArrowheads="1"/>
          </p:cNvSpPr>
          <p:nvPr/>
        </p:nvSpPr>
        <p:spPr bwMode="auto">
          <a:xfrm>
            <a:off x="342256" y="1412776"/>
            <a:ext cx="1185664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028700" marR="0" lvl="1"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NG" altLang="en-NG" sz="4000" b="0" i="0" u="none" strike="noStrike" cap="none" normalizeH="0" baseline="0" dirty="0">
                <a:ln>
                  <a:noFill/>
                </a:ln>
                <a:solidFill>
                  <a:schemeClr val="tx1"/>
                </a:solidFill>
                <a:effectLst/>
                <a:latin typeface="Arial" panose="020B0604020202020204" pitchFamily="34" charset="0"/>
              </a:rPr>
              <a:t>Clear downward trend: higher draft picks tend to contribute more to team success </a:t>
            </a:r>
          </a:p>
          <a:p>
            <a:pPr marL="1028700" marR="0" lvl="1"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NG" altLang="en-NG" sz="4000" b="0" i="0" u="none" strike="noStrike" cap="none" normalizeH="0" baseline="0" dirty="0">
                <a:ln>
                  <a:noFill/>
                </a:ln>
                <a:solidFill>
                  <a:schemeClr val="tx1"/>
                </a:solidFill>
                <a:effectLst/>
                <a:latin typeface="Arial" panose="020B0604020202020204" pitchFamily="34" charset="0"/>
              </a:rPr>
              <a:t>But there are exceptions—some lower picks outperform expectations </a:t>
            </a:r>
          </a:p>
          <a:p>
            <a:pPr marL="0" marR="0" lvl="0" indent="0" algn="l" defTabSz="914400" rtl="0" eaLnBrk="0" fontAlgn="base" latinLnBrk="0" hangingPunct="0">
              <a:lnSpc>
                <a:spcPct val="100000"/>
              </a:lnSpc>
              <a:spcBef>
                <a:spcPct val="0"/>
              </a:spcBef>
              <a:spcAft>
                <a:spcPct val="0"/>
              </a:spcAft>
              <a:buClrTx/>
              <a:buSzTx/>
              <a:tabLst/>
            </a:pPr>
            <a:endParaRPr kumimoji="0" lang="en-US" altLang="en-NG" sz="4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NG" altLang="en-NG" sz="4000" b="0" i="0" u="none" strike="noStrike" cap="none" normalizeH="0" baseline="0" dirty="0">
                <a:ln>
                  <a:noFill/>
                </a:ln>
                <a:solidFill>
                  <a:schemeClr val="tx1"/>
                </a:solidFill>
                <a:effectLst/>
                <a:latin typeface="Arial" panose="020B0604020202020204" pitchFamily="34" charset="0"/>
              </a:rPr>
              <a:t>This trend reinforces the importance of early picks, but also highlights the need for smart scouting and development to uncover hidden gems.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NG" altLang="en-NG" sz="40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83C473B6-2229-EBA5-CCFC-F2471EC36433}"/>
              </a:ext>
            </a:extLst>
          </p:cNvPr>
          <p:cNvSpPr txBox="1"/>
          <p:nvPr/>
        </p:nvSpPr>
        <p:spPr>
          <a:xfrm>
            <a:off x="1883532" y="614136"/>
            <a:ext cx="8424936" cy="769441"/>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n-NG" altLang="en-NG" sz="4400" b="1" i="0" u="none" strike="noStrike" cap="none" normalizeH="0" baseline="0" dirty="0">
                <a:ln>
                  <a:noFill/>
                </a:ln>
                <a:solidFill>
                  <a:schemeClr val="tx1"/>
                </a:solidFill>
                <a:effectLst/>
                <a:latin typeface="+mj-lt"/>
              </a:rPr>
              <a:t>KEY INSIGHT</a:t>
            </a:r>
            <a:endParaRPr kumimoji="0" lang="en-US" altLang="en-NG" sz="44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242861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3920A-5960-4AF6-B074-EF4477AFF9E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0DAFB05-DF3F-CCDA-7771-F9628315F936}"/>
              </a:ext>
            </a:extLst>
          </p:cNvPr>
          <p:cNvSpPr txBox="1"/>
          <p:nvPr/>
        </p:nvSpPr>
        <p:spPr>
          <a:xfrm>
            <a:off x="3048000" y="181082"/>
            <a:ext cx="6096000" cy="830997"/>
          </a:xfrm>
          <a:prstGeom prst="rect">
            <a:avLst/>
          </a:prstGeom>
          <a:noFill/>
        </p:spPr>
        <p:txBody>
          <a:bodyPr wrap="square">
            <a:spAutoFit/>
          </a:bodyPr>
          <a:lstStyle/>
          <a:p>
            <a:pPr algn="ctr"/>
            <a:r>
              <a:rPr lang="en-US" sz="4800" dirty="0">
                <a:latin typeface="+mj-lt"/>
              </a:rPr>
              <a:t>FINAL INSIGHTS</a:t>
            </a:r>
            <a:endParaRPr lang="en-NG" sz="4800" dirty="0">
              <a:latin typeface="+mj-lt"/>
            </a:endParaRPr>
          </a:p>
        </p:txBody>
      </p:sp>
      <p:sp>
        <p:nvSpPr>
          <p:cNvPr id="7" name="Rectangle 1">
            <a:extLst>
              <a:ext uri="{FF2B5EF4-FFF2-40B4-BE49-F238E27FC236}">
                <a16:creationId xmlns:a16="http://schemas.microsoft.com/office/drawing/2014/main" id="{C8F7FA25-30E2-45F6-7867-D1A6FCB8C61A}"/>
              </a:ext>
            </a:extLst>
          </p:cNvPr>
          <p:cNvSpPr>
            <a:spLocks noChangeArrowheads="1"/>
          </p:cNvSpPr>
          <p:nvPr/>
        </p:nvSpPr>
        <p:spPr bwMode="auto">
          <a:xfrm>
            <a:off x="263352" y="1061632"/>
            <a:ext cx="11665296"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914400" marR="0" lvl="1"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NG" altLang="en-NG" sz="4000" b="0" i="0" u="none" strike="noStrike" cap="none" normalizeH="0" baseline="0" dirty="0">
                <a:ln>
                  <a:noFill/>
                </a:ln>
                <a:solidFill>
                  <a:schemeClr val="tx1"/>
                </a:solidFill>
                <a:effectLst/>
                <a:latin typeface="Arial" panose="020B0604020202020204" pitchFamily="34" charset="0"/>
              </a:rPr>
              <a:t>Early draft picks offer strong returns, but aren’t foolproof </a:t>
            </a:r>
          </a:p>
          <a:p>
            <a:pPr marL="914400" marR="0" lvl="1"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NG" altLang="en-NG" sz="4000" b="0" i="0" u="none" strike="noStrike" cap="none" normalizeH="0" baseline="0" dirty="0">
                <a:ln>
                  <a:noFill/>
                </a:ln>
                <a:solidFill>
                  <a:schemeClr val="tx1"/>
                </a:solidFill>
                <a:effectLst/>
                <a:latin typeface="Arial" panose="020B0604020202020204" pitchFamily="34" charset="0"/>
              </a:rPr>
              <a:t>Longevity and performance are shaped by team culture and player fit </a:t>
            </a:r>
          </a:p>
          <a:p>
            <a:pPr marL="914400" marR="0" lvl="1"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NG" altLang="en-NG" sz="4000" b="0" i="0" u="none" strike="noStrike" cap="none" normalizeH="0" baseline="0" dirty="0">
                <a:ln>
                  <a:noFill/>
                </a:ln>
                <a:solidFill>
                  <a:schemeClr val="tx1"/>
                </a:solidFill>
                <a:effectLst/>
                <a:latin typeface="Arial" panose="020B0604020202020204" pitchFamily="34" charset="0"/>
              </a:rPr>
              <a:t>Smart scouting and development can turn late picks into valuable assets </a:t>
            </a:r>
            <a:endParaRPr kumimoji="0" lang="en-US" altLang="en-NG" sz="4000" b="0" i="0" u="none" strike="noStrike" cap="none" normalizeH="0" baseline="0" dirty="0">
              <a:ln>
                <a:noFill/>
              </a:ln>
              <a:solidFill>
                <a:schemeClr val="tx1"/>
              </a:solidFill>
              <a:effectLst/>
              <a:latin typeface="Arial" panose="020B0604020202020204" pitchFamily="34" charset="0"/>
            </a:endParaRPr>
          </a:p>
          <a:p>
            <a:pPr marL="914400" marR="0" lvl="1"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NG" altLang="en-NG" sz="4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NG" altLang="en-NG" sz="4000" b="0" i="0" u="none" strike="noStrike" cap="none" normalizeH="0" baseline="0" dirty="0">
                <a:ln>
                  <a:noFill/>
                </a:ln>
                <a:solidFill>
                  <a:schemeClr val="tx1"/>
                </a:solidFill>
                <a:effectLst/>
                <a:latin typeface="Arial" panose="020B0604020202020204" pitchFamily="34" charset="0"/>
              </a:rPr>
              <a:t>Success in the NBA isn’t just about who you pick—it’s about how you support and develop them.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NG" altLang="en-NG"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78423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E0616-6E7D-AF74-DE6A-3BFD857864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95F0D-1A0F-F482-BC35-CAFCD5884B2E}"/>
              </a:ext>
            </a:extLst>
          </p:cNvPr>
          <p:cNvSpPr>
            <a:spLocks noGrp="1"/>
          </p:cNvSpPr>
          <p:nvPr>
            <p:ph type="ctrTitle"/>
          </p:nvPr>
        </p:nvSpPr>
        <p:spPr>
          <a:xfrm>
            <a:off x="6096000" y="1484784"/>
            <a:ext cx="5857800" cy="2514599"/>
          </a:xfrm>
        </p:spPr>
        <p:txBody>
          <a:bodyPr>
            <a:normAutofit/>
          </a:bodyPr>
          <a:lstStyle/>
          <a:p>
            <a:r>
              <a:rPr lang="en-US" dirty="0"/>
              <a:t>THANK YOU</a:t>
            </a:r>
          </a:p>
        </p:txBody>
      </p:sp>
    </p:spTree>
    <p:extLst>
      <p:ext uri="{BB962C8B-B14F-4D97-AF65-F5344CB8AC3E}">
        <p14:creationId xmlns:p14="http://schemas.microsoft.com/office/powerpoint/2010/main" val="3764127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asketball 16x9">
  <a:themeElements>
    <a:clrScheme name="Basketball">
      <a:dk1>
        <a:sysClr val="windowText" lastClr="000000"/>
      </a:dk1>
      <a:lt1>
        <a:sysClr val="window" lastClr="FFFFFF"/>
      </a:lt1>
      <a:dk2>
        <a:srgbClr val="51270B"/>
      </a:dk2>
      <a:lt2>
        <a:srgbClr val="CAAF92"/>
      </a:lt2>
      <a:accent1>
        <a:srgbClr val="8C061E"/>
      </a:accent1>
      <a:accent2>
        <a:srgbClr val="CD0205"/>
      </a:accent2>
      <a:accent3>
        <a:srgbClr val="D05002"/>
      </a:accent3>
      <a:accent4>
        <a:srgbClr val="052A5E"/>
      </a:accent4>
      <a:accent5>
        <a:srgbClr val="1A559C"/>
      </a:accent5>
      <a:accent6>
        <a:srgbClr val="156645"/>
      </a:accent6>
      <a:hlink>
        <a:srgbClr val="D05002"/>
      </a:hlink>
      <a:folHlink>
        <a:srgbClr val="808080"/>
      </a:folHlink>
    </a:clrScheme>
    <a:fontScheme name="Impact - Franklin Gothic Medium">
      <a:majorFont>
        <a:latin typeface="Impact"/>
        <a:ea typeface=""/>
        <a:cs typeface=""/>
      </a:majorFont>
      <a:minorFont>
        <a:latin typeface="Franklin Gothic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sketball presentation (widescreen).potx" id="{CC5AF3F1-F1AD-46F5-B229-4E1329F06412}" vid="{B7E1BF64-2168-4738-AA42-CF7C9F7F9E95}"/>
    </a:ext>
  </a:extLst>
</a:theme>
</file>

<file path=ppt/theme/theme2.xml><?xml version="1.0" encoding="utf-8"?>
<a:theme xmlns:a="http://schemas.openxmlformats.org/drawingml/2006/main" name="Office Theme">
  <a:themeElements>
    <a:clrScheme name="Basketball">
      <a:dk1>
        <a:sysClr val="windowText" lastClr="000000"/>
      </a:dk1>
      <a:lt1>
        <a:sysClr val="window" lastClr="FFFFFF"/>
      </a:lt1>
      <a:dk2>
        <a:srgbClr val="51270B"/>
      </a:dk2>
      <a:lt2>
        <a:srgbClr val="CAAF92"/>
      </a:lt2>
      <a:accent1>
        <a:srgbClr val="8C061E"/>
      </a:accent1>
      <a:accent2>
        <a:srgbClr val="CD0205"/>
      </a:accent2>
      <a:accent3>
        <a:srgbClr val="D05002"/>
      </a:accent3>
      <a:accent4>
        <a:srgbClr val="052A5E"/>
      </a:accent4>
      <a:accent5>
        <a:srgbClr val="1A559C"/>
      </a:accent5>
      <a:accent6>
        <a:srgbClr val="156645"/>
      </a:accent6>
      <a:hlink>
        <a:srgbClr val="D05002"/>
      </a:hlink>
      <a:folHlink>
        <a:srgbClr val="808080"/>
      </a:folHlink>
    </a:clrScheme>
    <a:fontScheme name="Impact - Franklin Gothic Medium">
      <a:majorFont>
        <a:latin typeface="Impact"/>
        <a:ea typeface=""/>
        <a:cs typeface=""/>
      </a:majorFont>
      <a:minorFont>
        <a:latin typeface="Franklin Gothic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asketball">
      <a:dk1>
        <a:sysClr val="windowText" lastClr="000000"/>
      </a:dk1>
      <a:lt1>
        <a:sysClr val="window" lastClr="FFFFFF"/>
      </a:lt1>
      <a:dk2>
        <a:srgbClr val="51270B"/>
      </a:dk2>
      <a:lt2>
        <a:srgbClr val="CAAF92"/>
      </a:lt2>
      <a:accent1>
        <a:srgbClr val="8C061E"/>
      </a:accent1>
      <a:accent2>
        <a:srgbClr val="CD0205"/>
      </a:accent2>
      <a:accent3>
        <a:srgbClr val="D05002"/>
      </a:accent3>
      <a:accent4>
        <a:srgbClr val="052A5E"/>
      </a:accent4>
      <a:accent5>
        <a:srgbClr val="1A559C"/>
      </a:accent5>
      <a:accent6>
        <a:srgbClr val="156645"/>
      </a:accent6>
      <a:hlink>
        <a:srgbClr val="D05002"/>
      </a:hlink>
      <a:folHlink>
        <a:srgbClr val="808080"/>
      </a:folHlink>
    </a:clrScheme>
    <a:fontScheme name="Impact - Franklin Gothic Medium">
      <a:majorFont>
        <a:latin typeface="Impact"/>
        <a:ea typeface=""/>
        <a:cs typeface=""/>
      </a:majorFont>
      <a:minorFont>
        <a:latin typeface="Franklin Gothic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Basketball presentation (widescreen)</Template>
  <TotalTime>80</TotalTime>
  <Words>1096</Words>
  <Application>Microsoft Office PowerPoint</Application>
  <PresentationFormat>Widescreen</PresentationFormat>
  <Paragraphs>68</Paragraphs>
  <Slides>10</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Franklin Gothic Medium</vt:lpstr>
      <vt:lpstr>Impact</vt:lpstr>
      <vt:lpstr>Basketball 16x9</vt:lpstr>
      <vt:lpstr>TEAM ALPHA NBA ANALYSIS</vt:lpstr>
      <vt:lpstr>BRIEF OVERVIEW OF THE DASHBOARD</vt:lpstr>
      <vt:lpstr>KEY TAKEAWAY</vt:lpstr>
      <vt:lpstr>TOP SCORERS</vt:lpstr>
      <vt:lpstr>LONGEVITY BY TEAM</vt:lpstr>
      <vt:lpstr>AVERAGE POINTS PER GAME BY DRAFT ROUND</vt:lpstr>
      <vt:lpstr>DRAFT POSITION VS. WIN SHARES</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Divine Nwokedi</dc:creator>
  <cp:lastModifiedBy>Divine Nwokedi</cp:lastModifiedBy>
  <cp:revision>3</cp:revision>
  <dcterms:created xsi:type="dcterms:W3CDTF">2025-11-17T15:51:29Z</dcterms:created>
  <dcterms:modified xsi:type="dcterms:W3CDTF">2025-11-18T07:23:00Z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